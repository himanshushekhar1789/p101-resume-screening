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members of the evaluation committee and faculty guides. Today, I am presenting project P_101: An LLM-Based Resume Screening System. In today’s recruitment landscape, hiring teams face massive resume volumes. Most organizations resort either to traditional keyword Applicant Tracking Systems, which are brittle and miss qualified candidates, or to end-to-end generative AI prompts, which are opaque, non-deterministic, and prone to hallucinating qualifications. P_101 resolves this dilemma through an evidence-grounded, multi-layered decision-support platform that keeps the human recruiter firmly in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begins with scale. Technical recruiters frequently process hundreds of applications for a single opening. When humans review resumes under time pressure, evaluations become inconsistent and fatigued. To cope, companies deploy keyword-based ATS tools. But keyword search is brittle: if a candidate writes 'Postgres' or 'K8s', a naive keyword tool searching for 'PostgreSQL' or 'Kubernetes' marks them as unqualified. Conversely, candidates who mechanically paste keywords can game the system. Recently, developers have tried prompting ChatGPT to rate resumes directly. But direct LLM grading is a black box: it hallucinates skills, cannot produce a reproducible mathematical score, and is susceptible to prompt injection. Our central requirement is to build a transparent, auditable system that extracts structured facts, proves every match with verbatim evidence, and leaves hiring authority with the human.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address this challenge rigorously, we formulated ten engineering objectives. First, ingest raw PDF and DOCX files without layout corruption. Second, extract structured requirements from job descriptions, separating must-haves from nice-to-haves. Third, build a canonical skill taxonomy with alias mapping and strict protection between lookalike technologies. Fourth, implement an authoritative deterministic matching engine. Fifth, use local dense embeddings to capture semantic context. Sixth, formulate a hybrid scoring model that mathematically separates skills from tenure. Seventh, isolate skill gaps with verbatim quotes. Eighth, build a constrained LLM explanation adapter with zero hiring verdicts. Ninth, provide a modern recruiter web dashboard. And tenth, enforce ethical guardrails ensuring human decision authority.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comparison table illustrates the fundamental trade-offs in candidate screening. Manual review offers good context understanding, but suffers from low throughput and fatigue. Keyword ATS provides high speed, but fails on simple abbreviations like 'JS' or 'K8s', lacks semantic context, and provides no audit trail. Pure generative LLM screening understands language well, but introduces severe risks: hallucinated degrees, high latency, non-reproducible scoring, and prompt injection vulnerabilities. P_101 combines the strengths of both worlds while eliminating their flaws. We use deterministic rules for hard gatekeeping, dense sentence embeddings for semantic context, and an LLM strictly for evidence-grounded summarization. The human recruiter receives an auditable, instant breakdown in under 150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architectural blueprint of P_101. It is structured into five strictly decoupled layers. At the top is our Presentation Layer, built with Next.js 16 and React 19. It communicates via REST with our FastAPI backend. In Layer 3, incoming resumes and job descriptions are parsed by our Document Processing services. Layer 4 is the heart of the system—the Decision and AI Layer. Notice the strict hierarchy: the Deterministic Matching Engine is the sole mathematical authority over hard requirements. The SentenceTransformer embedding model evaluates semantic proximity as supporting evidence. These feed into our Multi-Layer Hybrid Scorer. Downstream from scoring, our Constrained LLM Adapter synthesizes the verified findings into plain English. Crucially: the LLM has zero authority over the score, and cannot override missing must-haves. Finally, Layer 5 persists all data in SQLite for full auditability.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summarizes our technology stack. Every component was selected for performance, reliability, and auditability. The backend is built on Python 3.11 with FastAPI and Pydantic v2. The frontend uses Next.js 16 with React 19, TypeScript, and Tailwind CSS. For document parsing, we utilize PyMuPDF and python-docx, which handle multi-column reading order and table deduplication. Our NLP layer runs all-MiniLM-L6-v2 locally on CPU via sentence-transformers, generating 384-dimensional dense vectors in milliseconds. Persistence is handled by SQLite and SQLAlchemy. The entire system is 100% self-contained and operates completely offline with zero cloud fees.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evaluating a candidate, we must extract clean, structured data from messy real-world documents. On the resume side, incoming files pass binary magic-byte inspection to verify file health and prevent malicious spoofing. If a PDF is a flat image without text, our parser catches it immediately with a 422 error. For valid PDFs, PyMuPDF sorts text blocks to preserve natural reading order across multi-column layouts. We then extract clean contact details, skills, chronological employment, and education into a strongly validated Pydantic schema. Simultaneously, the job description is analyzed to extract structured requirements, categorizing them into mandatory must-haves and preferred nice-to-haves across skills, tenure, and education. Once both schemas are validated, they proceed to matching.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highlights our core technical innovation. We deploy two distinct matching engines. The Deterministic Engine is our authoritative gatekeeper. It resolves skill synonyms using our canonical taxonomy—for instance, mapping 'K8s' to 'Kubernetes'—while enforcing our Protected Technology Matrix to ensure Java and JavaScript or C and C++ are never conflated. It outputs four states: matched, partial, unmatched, or not evaluable. In parallel, our Semantic Engine computes dense cosine embeddings using all-MiniLM-L6-v2 to understand project context. Now, here is our critical design invariant: semantic similarity provides supporting evidence, but it can never override a missing must-have. Consider a candidate with MySQL applying for a role demanding PostgreSQL. Our semantic engine awards them a 0.55 similarity score because it recognizes relational database context. But our deterministic engine holds the line: PostgreSQL is marked UNMET, and the candidate is flagged with 'Must-Haves Missing'.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shows our hybrid scoring architecture. We combine four orthogonal components: Rule Fit at 30%, Semantic Fit at 40%, Experience Fit at 20%, and LLM-Supported Fit at 10%. We emphasize that these are project-configured engineering weights, not claims of industry optimality. Notice our mathematical safeguards: during our Phase 8 audits, we proved that general career tenure was being mixed into semantic vectors and rule counts. We refactored the architecture so that experience is calculated solely through our tenure ratio formula and strictly excluded from Rule Fit and Semantic Fit. Furthermore, if an optional component like LLM Fit is disabled, our engine dynamically renormalizes the remaining weights so that they always sum to exactly 1.0. Finally, our score is accompanied by an independent 'Must-Haves Met' gating flag. Even if a candidate scores 60% on adjacent skills, recruiters instantly see if mandatory skills are missing.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10, we look at skill-gap auditing and responsible AI guardrails. In technical hiring, recruiters do not just want a score—they want to know where the candidate falls short. Our engine categorizes every requirement into one of four states: Satisfied, Insufficient, Missing, or Not Evaluable for subjective qualities like 'team player' that belong in an interview. Every satisfied item is linked to a verbatim quote from the resume. On the right, we highlight our LLM guardrails. In many modern AI systems, the LLM is given unconstrained authority. In P_101, the LLM is strictly constrained: it only receives verified facts from the deterministic engine. It is explicitly prohibited from generating hiring or rejection verdicts, it cannot speculate on unmentioned skills, and it cannot alter the mathematical score. The user interface prominently displays a human-review disclaimer.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shows our recruiter web interface. This is not a mockup; it is the actual Next.js application running on localhost:3000. At the top left, the recruiter sees the Overall Score Badge—in this case, 84.1%—accompanied by our prominent green 'Must-Haves Met' badge. To the right is our 4-quadrant Score Breakdown Card, showing Rule Fit, Semantic Fit, Experience Fit, and Education Fit independently. Below that is our Requirement Coverage Table. For every requirement, recruiters see its priority, its match status, and an expandable citation showing the exact sentence from the candidate's resume where the skill was identified. Below the table, the left panel audits Skill Gaps, while the right panel renders the grounded LLM Executive Briefing. Everything the recruiter needs to make a fair, evidence-based judgment is visible on one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12, we present our Phase 12 engineering evaluation results. We validated our system across a synthetic benchmark dataset of 10 resumes, 5 job descriptions, and 10 curated test cases. As shown in the metric cards, 10 out of 10 curated benchmark cases passed ground-truth expectations. All 6 mathematical scoring invariants held true under testing. All 7 API smoke tests were operational. In our regression suites, all 168 backend pytest cases and all 21 frontend Vitest cases passed cleanly—a total of 189 passing tests. Across all evaluation runs, we measured 100% factual grounding in LLM citations, exactly zero hallucinated credentials, and exactly zero automated hiring verdicts. Furthermore, our pipeline latency is exceptional: on standard consumer CPU, our median end-to-end processing time is just 72.65 milliseconds. We explicitly clarify that these metrics validate software engineering correctness on synthetic data, not real-world hiring efficacy.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outlines the exact live demonstration we will conduct following this slide presentation. We will walk through three distinct candidate scenarios against our baseline Senior Backend Engineer position. In Step 1, we upload the job description and extract 5 must-haves and a 5-year tenure requirement. In Scenario A, we screen Alex Morgan—a strong candidate with 6.2 years of FastAPI, PostgreSQL, and Docker experience. Alex achieves an 84.1% fit score with a green 'Must-Haves Met' badge. In Scenario B, we screen Brian Miller, a junior candidate with basic Python. Despite having the Python keyword, Brian lacks 4 must-haves and has only 0.6 years tenure; the score drops to 25.2% with a red 'Must-Haves Missing' badge. In Scenario C, we screen Hector Vance, who possesses Flask and MySQL. Here, we demonstrate our hybrid advantage: Hector achieves a high semantic score of 55.1%, but our deterministic engine holds the line: must-haves remain missing. Before launching the live demo, let us review our limitations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14, we honestly acknowledge our current technical boundaries and outline future research. First, our document parser requires a digital text stream; scanned image-only PDFs are rejected via a 422 error rather than processed through heavy OCR models. Second, initial CPU model loading requires roughly 2 seconds on cold start, although warm inference is sub-30 milliseconds. Third, our canonical taxonomy covers major frameworks, but highly niche proprietary tools rely on dense semantics. Fourth, the system operates as a single-candidate decision-support audit tool rather than a batch ranker, and our benchmarks are synthetic. For future work, we plan to integrate a local OCR engine like Tesseract, connect to public ontologies like ESCO and O*NET, introduce configurable scoring policy sliders for recruiters, conduct consented real-world validation studies, and implement an asynchronous Celery batch processing queue. Now, let us conclude.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P_101 proves that AI-assisted resume screening does not require opaque, non-deterministic generative models. By decoupling deterministic rule matching, dense vector embeddings, and constrained natural language generation, we achieve rigorous mathematical transparency while eliminating AI hallucinations. Every match and skill gap is grounded in verbatim textual evidence, empowering human recruiters to make informed, fair decisions. With all 189 tests passing and all 6 scoring invariants verified, the system is fully operational. Thank you for your time and attention. I am now delighted to take your questions and transition directly into our live system demonstration.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097280"/>
            <a:ext cx="9445752" cy="2011680"/>
          </a:xfrm>
          <a:prstGeom prst="rect">
            <a:avLst/>
          </a:prstGeom>
          <a:noFill/>
        </p:spPr>
        <p:txBody>
          <a:bodyPr wrap="square">
            <a:spAutoFit/>
          </a:bodyPr>
          <a:lstStyle/>
          <a:p>
            <a:pPr algn="ctr">
              <a:defRPr sz="3600" b="1">
                <a:solidFill>
                  <a:srgbClr val="F8FAFC"/>
                </a:solidFill>
              </a:defRPr>
            </a:pPr>
            <a:r>
              <a:t>P_101 — LLM-Based Resume Screening System</a:t>
            </a:r>
          </a:p>
          <a:p>
            <a:pPr algn="ctr">
              <a:spcBef>
                <a:spcPts val="1200"/>
              </a:spcBef>
              <a:defRPr sz="1800">
                <a:solidFill>
                  <a:srgbClr val="818CF8"/>
                </a:solidFill>
              </a:defRPr>
            </a:pPr>
            <a:r>
              <a:t>An Evidence-Grounded Recruiter Decision-Support Platform with Hybrid Scoring and Transparent Auditing</a:t>
            </a:r>
          </a:p>
        </p:txBody>
      </p:sp>
      <p:sp>
        <p:nvSpPr>
          <p:cNvPr id="4" name="Rounded Rectangle 3"/>
          <p:cNvSpPr/>
          <p:nvPr/>
        </p:nvSpPr>
        <p:spPr>
          <a:xfrm>
            <a:off x="2286000" y="3474720"/>
            <a:ext cx="7616952" cy="2560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ctr">
              <a:spcBef>
                <a:spcPts val="800"/>
              </a:spcBef>
            </a:pPr>
            <a:r>
              <a:rPr b="1" sz="1400">
                <a:solidFill>
                  <a:srgbClr val="818CF8"/>
                </a:solidFill>
              </a:rPr>
              <a:t>Branch / Degree:  </a:t>
            </a:r>
            <a:r>
              <a:rPr sz="1400">
                <a:solidFill>
                  <a:srgbClr val="F8FAFC"/>
                </a:solidFill>
              </a:rPr>
              <a:t>Bachelor of Technology — Computer Science &amp; Engineering</a:t>
            </a:r>
          </a:p>
          <a:p>
            <a:pPr>
              <a:spcBef>
                <a:spcPts val="800"/>
              </a:spcBef>
            </a:pPr>
            <a:r>
              <a:rPr b="1" sz="1400">
                <a:solidFill>
                  <a:srgbClr val="818CF8"/>
                </a:solidFill>
              </a:rPr>
              <a:t>Department:  </a:t>
            </a:r>
            <a:r>
              <a:rPr sz="1400">
                <a:solidFill>
                  <a:srgbClr val="F8FAFC"/>
                </a:solidFill>
              </a:rPr>
              <a:t>Department of Computer Science &amp; Engineering</a:t>
            </a:r>
          </a:p>
          <a:p>
            <a:pPr>
              <a:spcBef>
                <a:spcPts val="800"/>
              </a:spcBef>
            </a:pPr>
            <a:r>
              <a:rPr b="1" sz="1400">
                <a:solidFill>
                  <a:srgbClr val="818CF8"/>
                </a:solidFill>
              </a:rPr>
              <a:t>Academic Year:  </a:t>
            </a:r>
            <a:r>
              <a:rPr sz="1400">
                <a:solidFill>
                  <a:srgbClr val="F8FAFC"/>
                </a:solidFill>
              </a:rPr>
              <a:t>2025 – 2026</a:t>
            </a:r>
          </a:p>
          <a:p>
            <a:pPr>
              <a:spcBef>
                <a:spcPts val="800"/>
              </a:spcBef>
            </a:pPr>
            <a:r>
              <a:rPr b="1" sz="1400">
                <a:solidFill>
                  <a:srgbClr val="818CF8"/>
                </a:solidFill>
              </a:rPr>
              <a:t>Core Philosophy:  </a:t>
            </a:r>
            <a:r>
              <a:rPr sz="1400">
                <a:solidFill>
                  <a:srgbClr val="F8FAFC"/>
                </a:solidFill>
              </a:rPr>
              <a:t>Decision Support, Not Automated Hiring Authority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Problem Statement &amp; The Recruitment Bottleneck</a:t>
            </a:r>
          </a:p>
          <a:p>
            <a:pPr>
              <a:defRPr sz="1300">
                <a:solidFill>
                  <a:srgbClr val="94A3B8"/>
                </a:solidFill>
              </a:defRPr>
            </a:pPr>
            <a:r>
              <a:t>Why modern automated screening systems fail recruiters and candidates alike</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02 / 15</a:t>
            </a:r>
          </a:p>
        </p:txBody>
      </p:sp>
      <p:sp>
        <p:nvSpPr>
          <p:cNvPr id="5" name="Rounded Rectangle 4"/>
          <p:cNvSpPr/>
          <p:nvPr/>
        </p:nvSpPr>
        <p:spPr>
          <a:xfrm>
            <a:off x="731520" y="1645920"/>
            <a:ext cx="3328416" cy="34747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500">
                <a:solidFill>
                  <a:srgbClr val="818CF8"/>
                </a:solidFill>
              </a:defRPr>
            </a:pPr>
            <a:r>
              <a:t>📉 High Application Volume</a:t>
            </a:r>
          </a:p>
          <a:p>
            <a:pPr>
              <a:spcBef>
                <a:spcPts val="1000"/>
              </a:spcBef>
              <a:defRPr sz="1300">
                <a:solidFill>
                  <a:srgbClr val="F8FAFC"/>
                </a:solidFill>
              </a:defRPr>
            </a:pPr>
            <a:r>
              <a:t>Recruiters process hundreds of resumes per technical role. Under severe time pressure, evaluations suffer from fatigue, inconsistency, and subjective screening bias.</a:t>
            </a:r>
          </a:p>
        </p:txBody>
      </p:sp>
      <p:sp>
        <p:nvSpPr>
          <p:cNvPr id="6" name="Rounded Rectangle 5"/>
          <p:cNvSpPr/>
          <p:nvPr/>
        </p:nvSpPr>
        <p:spPr>
          <a:xfrm>
            <a:off x="4425696" y="1645920"/>
            <a:ext cx="3328416" cy="34747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500">
                <a:solidFill>
                  <a:srgbClr val="818CF8"/>
                </a:solidFill>
              </a:defRPr>
            </a:pPr>
            <a:r>
              <a:t>🔍 Lexical Phrasing Discrepancies</a:t>
            </a:r>
          </a:p>
          <a:p>
            <a:pPr>
              <a:spcBef>
                <a:spcPts val="1000"/>
              </a:spcBef>
              <a:defRPr sz="1300">
                <a:solidFill>
                  <a:srgbClr val="F8FAFC"/>
                </a:solidFill>
              </a:defRPr>
            </a:pPr>
            <a:r>
              <a:t>Candidates express identical skills differently: 'JS' vs 'JavaScript', 'Postgres' vs 'PostgreSQL', 'K8s' vs 'Kubernetes'. Keyword matchers miss qualified talent.</a:t>
            </a:r>
          </a:p>
        </p:txBody>
      </p:sp>
      <p:sp>
        <p:nvSpPr>
          <p:cNvPr id="7" name="Rounded Rectangle 6"/>
          <p:cNvSpPr/>
          <p:nvPr/>
        </p:nvSpPr>
        <p:spPr>
          <a:xfrm>
            <a:off x="8119872" y="1645920"/>
            <a:ext cx="3328416" cy="34747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500">
                <a:solidFill>
                  <a:srgbClr val="818CF8"/>
                </a:solidFill>
              </a:defRPr>
            </a:pPr>
            <a:r>
              <a:t>⚠️ Black-Box AI Hallucinations</a:t>
            </a:r>
          </a:p>
          <a:p>
            <a:pPr>
              <a:spcBef>
                <a:spcPts val="1000"/>
              </a:spcBef>
              <a:defRPr sz="1300">
                <a:solidFill>
                  <a:srgbClr val="F8FAFC"/>
                </a:solidFill>
              </a:defRPr>
            </a:pPr>
            <a:r>
              <a:t>Direct generative LLM grading ('Score this candidate 1 to 10') produces unexplainable scores, hallucinates unmentioned credentials, and is vulnerable to prompt injections.</a:t>
            </a:r>
          </a:p>
        </p:txBody>
      </p:sp>
      <p:sp>
        <p:nvSpPr>
          <p:cNvPr id="8" name="Rounded Rectangle 7"/>
          <p:cNvSpPr/>
          <p:nvPr/>
        </p:nvSpPr>
        <p:spPr>
          <a:xfrm>
            <a:off x="731520" y="5760720"/>
            <a:ext cx="10725912" cy="640080"/>
          </a:xfrm>
          <a:prstGeom prst="roundRect">
            <a:avLst/>
          </a:prstGeom>
          <a:solidFill>
            <a:srgbClr val="141C2D"/>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100">
                <a:solidFill>
                  <a:srgbClr val="E0E7FF"/>
                </a:solidFill>
              </a:defRPr>
            </a:pPr>
            <a:r>
              <a:t>🎯 Central Requirement: Build a transparent first-pass screening system that provides verifiable evidence while preserving final decision authority with the human recruiter.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10 Core Engineering Objectives</a:t>
            </a:r>
          </a:p>
          <a:p>
            <a:pPr>
              <a:defRPr sz="1300">
                <a:solidFill>
                  <a:srgbClr val="94A3B8"/>
                </a:solidFill>
              </a:defRPr>
            </a:pPr>
            <a:r>
              <a:t>Verifiable milestones accomplished across the system lifecycle</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03 / 15</a:t>
            </a:r>
          </a:p>
        </p:txBody>
      </p:sp>
      <p:sp>
        <p:nvSpPr>
          <p:cNvPr id="5" name="Rounded Rectangle 4"/>
          <p:cNvSpPr/>
          <p:nvPr/>
        </p:nvSpPr>
        <p:spPr>
          <a:xfrm>
            <a:off x="731520" y="1645920"/>
            <a:ext cx="5120640" cy="4572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Bef>
                <a:spcPts val="600"/>
              </a:spcBef>
            </a:pPr>
            <a:r>
              <a:rPr b="1" sz="1200">
                <a:solidFill>
                  <a:srgbClr val="818CF8"/>
                </a:solidFill>
              </a:rPr>
              <a:t>1. Structured Document Parsing: </a:t>
            </a:r>
            <a:r>
              <a:rPr sz="1200">
                <a:solidFill>
                  <a:srgbClr val="F8FAFC"/>
                </a:solidFill>
              </a:rPr>
              <a:t>Ingest PDF/DOCX with PyMuPDF block sorting, preserving reading order across multi-column layouts.</a:t>
            </a:r>
          </a:p>
          <a:p>
            <a:pPr>
              <a:spcBef>
                <a:spcPts val="600"/>
              </a:spcBef>
            </a:pPr>
            <a:r>
              <a:rPr b="1" sz="1200">
                <a:solidFill>
                  <a:srgbClr val="818CF8"/>
                </a:solidFill>
              </a:rPr>
              <a:t>2. Structured Job Analysis: </a:t>
            </a:r>
            <a:r>
              <a:rPr sz="1200">
                <a:solidFill>
                  <a:srgbClr val="F8FAFC"/>
                </a:solidFill>
              </a:rPr>
              <a:t>Classify requirements into Must-Have (mandatory) vs Nice-to-Have (preferred) tiers.</a:t>
            </a:r>
          </a:p>
          <a:p>
            <a:pPr>
              <a:spcBef>
                <a:spcPts val="600"/>
              </a:spcBef>
            </a:pPr>
            <a:r>
              <a:rPr b="1" sz="1200">
                <a:solidFill>
                  <a:srgbClr val="818CF8"/>
                </a:solidFill>
              </a:rPr>
              <a:t>3. Canonical Skill Normalization: </a:t>
            </a:r>
            <a:r>
              <a:rPr sz="1200">
                <a:solidFill>
                  <a:srgbClr val="F8FAFC"/>
                </a:solidFill>
              </a:rPr>
              <a:t>Resolve aliases ('k8s' -&gt; Kubernetes) while protecting distinct technologies (Java != JS, C != C++).</a:t>
            </a:r>
          </a:p>
          <a:p>
            <a:pPr>
              <a:spcBef>
                <a:spcPts val="600"/>
              </a:spcBef>
            </a:pPr>
            <a:r>
              <a:rPr b="1" sz="1200">
                <a:solidFill>
                  <a:srgbClr val="818CF8"/>
                </a:solidFill>
              </a:rPr>
              <a:t>4. Deterministic Requirement Matching: </a:t>
            </a:r>
            <a:r>
              <a:rPr sz="1200">
                <a:solidFill>
                  <a:srgbClr val="F8FAFC"/>
                </a:solidFill>
              </a:rPr>
              <a:t>Authoritative mathematical rule engine evaluating skills, degrees, and tenure with zero hallucination.</a:t>
            </a:r>
          </a:p>
          <a:p>
            <a:pPr>
              <a:spcBef>
                <a:spcPts val="600"/>
              </a:spcBef>
            </a:pPr>
            <a:r>
              <a:rPr b="1" sz="1200">
                <a:solidFill>
                  <a:srgbClr val="818CF8"/>
                </a:solidFill>
              </a:rPr>
              <a:t>5. Dense Semantic Matching: </a:t>
            </a:r>
            <a:r>
              <a:rPr sz="1200">
                <a:solidFill>
                  <a:srgbClr val="F8FAFC"/>
                </a:solidFill>
              </a:rPr>
              <a:t>Local sentence-transformers embeddings capturing conceptual context without overriding hard rules.</a:t>
            </a:r>
          </a:p>
        </p:txBody>
      </p:sp>
      <p:sp>
        <p:nvSpPr>
          <p:cNvPr id="6" name="Rounded Rectangle 5"/>
          <p:cNvSpPr/>
          <p:nvPr/>
        </p:nvSpPr>
        <p:spPr>
          <a:xfrm>
            <a:off x="6309359" y="1645920"/>
            <a:ext cx="5120640" cy="457200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Bef>
                <a:spcPts val="600"/>
              </a:spcBef>
            </a:pPr>
            <a:r>
              <a:rPr b="1" sz="1200">
                <a:solidFill>
                  <a:srgbClr val="818CF8"/>
                </a:solidFill>
              </a:rPr>
              <a:t>6. Multi-Factor Hybrid Scoring: </a:t>
            </a:r>
            <a:r>
              <a:rPr sz="1200">
                <a:solidFill>
                  <a:srgbClr val="F8FAFC"/>
                </a:solidFill>
              </a:rPr>
              <a:t>Orthogonal fusion: Rule Fit (30%), Semantic Fit (40%), Experience Fit (20%), and LLM-Supported Fit (10%).</a:t>
            </a:r>
          </a:p>
          <a:p>
            <a:pPr>
              <a:spcBef>
                <a:spcPts val="600"/>
              </a:spcBef>
            </a:pPr>
            <a:r>
              <a:rPr b="1" sz="1200">
                <a:solidFill>
                  <a:srgbClr val="818CF8"/>
                </a:solidFill>
              </a:rPr>
              <a:t>7. Evidence-Grounded Skill Gaps: </a:t>
            </a:r>
            <a:r>
              <a:rPr sz="1200">
                <a:solidFill>
                  <a:srgbClr val="F8FAFC"/>
                </a:solidFill>
              </a:rPr>
              <a:t>Categorize gaps into satisfied, missing, and insufficient with verbatim resume sentence citations.</a:t>
            </a:r>
          </a:p>
          <a:p>
            <a:pPr>
              <a:spcBef>
                <a:spcPts val="600"/>
              </a:spcBef>
            </a:pPr>
            <a:r>
              <a:rPr b="1" sz="1200">
                <a:solidFill>
                  <a:srgbClr val="818CF8"/>
                </a:solidFill>
              </a:rPr>
              <a:t>8. Constrained LLM Explanations: </a:t>
            </a:r>
            <a:r>
              <a:rPr sz="1200">
                <a:solidFill>
                  <a:srgbClr val="F8FAFC"/>
                </a:solidFill>
              </a:rPr>
              <a:t>Grounded natural language briefing with strict guardrails: zero automated hiring verdicts or speculations.</a:t>
            </a:r>
          </a:p>
          <a:p>
            <a:pPr>
              <a:spcBef>
                <a:spcPts val="600"/>
              </a:spcBef>
            </a:pPr>
            <a:r>
              <a:rPr b="1" sz="1200">
                <a:solidFill>
                  <a:srgbClr val="818CF8"/>
                </a:solidFill>
              </a:rPr>
              <a:t>9. Recruiter Web Dashboard: </a:t>
            </a:r>
            <a:r>
              <a:rPr sz="1200">
                <a:solidFill>
                  <a:srgbClr val="F8FAFC"/>
                </a:solidFill>
              </a:rPr>
              <a:t>Next.js 16 / React 19 interface providing audit tables, score breakdown grids, and human review notices.</a:t>
            </a:r>
          </a:p>
          <a:p>
            <a:pPr>
              <a:spcBef>
                <a:spcPts val="600"/>
              </a:spcBef>
            </a:pPr>
            <a:r>
              <a:rPr b="1" sz="1200">
                <a:solidFill>
                  <a:srgbClr val="818CF8"/>
                </a:solidFill>
              </a:rPr>
              <a:t>10. Human Decision Authority: </a:t>
            </a:r>
            <a:r>
              <a:rPr sz="1200">
                <a:solidFill>
                  <a:srgbClr val="F8FAFC"/>
                </a:solidFill>
              </a:rPr>
              <a:t>Assistive audit tool; zero candidate ranking, zero leaderboards, and zero automated rejection decisions.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Comparative Analysis: Conventional vs. Proposed Approach</a:t>
            </a:r>
          </a:p>
          <a:p>
            <a:pPr>
              <a:defRPr sz="1300">
                <a:solidFill>
                  <a:srgbClr val="94A3B8"/>
                </a:solidFill>
              </a:defRPr>
            </a:pPr>
            <a:r>
              <a:t>Decoupling deterministic mathematical truth from statistical language models</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04 / 15</a:t>
            </a:r>
          </a:p>
        </p:txBody>
      </p:sp>
      <p:graphicFrame>
        <p:nvGraphicFramePr>
          <p:cNvPr id="5" name="Table 4"/>
          <p:cNvGraphicFramePr>
            <a:graphicFrameLocks noGrp="1"/>
          </p:cNvGraphicFramePr>
          <p:nvPr/>
        </p:nvGraphicFramePr>
        <p:xfrm>
          <a:off x="731520" y="1645920"/>
          <a:ext cx="10725912" cy="3840480"/>
        </p:xfrm>
        <a:graphic>
          <a:graphicData uri="http://schemas.openxmlformats.org/drawingml/2006/table">
            <a:tbl>
              <a:tblPr firstRow="1" bandRow="1">
                <a:tableStyleId>{5C22544A-7EE6-4342-B048-85BDC9FD1C3A}</a:tableStyleId>
              </a:tblPr>
              <a:tblGrid>
                <a:gridCol w="2145182"/>
                <a:gridCol w="2145182"/>
                <a:gridCol w="2145182"/>
                <a:gridCol w="2145182"/>
                <a:gridCol w="2145184"/>
              </a:tblGrid>
              <a:tr h="480060">
                <a:tc>
                  <a:txBody>
                    <a:bodyPr/>
                    <a:lstStyle/>
                    <a:p>
                      <a:pPr>
                        <a:defRPr sz="1100" b="1">
                          <a:solidFill>
                            <a:srgbClr val="F8FAFC"/>
                          </a:solidFill>
                        </a:defRPr>
                      </a:pPr>
                      <a:r>
                        <a:t>Evaluation Dimension</a:t>
                      </a:r>
                    </a:p>
                  </a:txBody>
                  <a:tcPr>
                    <a:solidFill>
                      <a:srgbClr val="1A2234"/>
                    </a:solidFill>
                  </a:tcPr>
                </a:tc>
                <a:tc>
                  <a:txBody>
                    <a:bodyPr/>
                    <a:lstStyle/>
                    <a:p>
                      <a:pPr>
                        <a:defRPr sz="1100" b="1">
                          <a:solidFill>
                            <a:srgbClr val="F8FAFC"/>
                          </a:solidFill>
                        </a:defRPr>
                      </a:pPr>
                      <a:r>
                        <a:t>Manual Screening</a:t>
                      </a:r>
                    </a:p>
                  </a:txBody>
                  <a:tcPr>
                    <a:solidFill>
                      <a:srgbClr val="1A2234"/>
                    </a:solidFill>
                  </a:tcPr>
                </a:tc>
                <a:tc>
                  <a:txBody>
                    <a:bodyPr/>
                    <a:lstStyle/>
                    <a:p>
                      <a:pPr>
                        <a:defRPr sz="1100" b="1">
                          <a:solidFill>
                            <a:srgbClr val="F8FAFC"/>
                          </a:solidFill>
                        </a:defRPr>
                      </a:pPr>
                      <a:r>
                        <a:t>Keyword ATS</a:t>
                      </a:r>
                    </a:p>
                  </a:txBody>
                  <a:tcPr>
                    <a:solidFill>
                      <a:srgbClr val="1A2234"/>
                    </a:solidFill>
                  </a:tcPr>
                </a:tc>
                <a:tc>
                  <a:txBody>
                    <a:bodyPr/>
                    <a:lstStyle/>
                    <a:p>
                      <a:pPr>
                        <a:defRPr sz="1100" b="1">
                          <a:solidFill>
                            <a:srgbClr val="F8FAFC"/>
                          </a:solidFill>
                        </a:defRPr>
                      </a:pPr>
                      <a:r>
                        <a:t>Monolithic LLM</a:t>
                      </a:r>
                    </a:p>
                  </a:txBody>
                  <a:tcPr>
                    <a:solidFill>
                      <a:srgbClr val="1A2234"/>
                    </a:solidFill>
                  </a:tcPr>
                </a:tc>
                <a:tc>
                  <a:txBody>
                    <a:bodyPr/>
                    <a:lstStyle/>
                    <a:p>
                      <a:pPr>
                        <a:defRPr sz="1100" b="1">
                          <a:solidFill>
                            <a:srgbClr val="F8FAFC"/>
                          </a:solidFill>
                        </a:defRPr>
                      </a:pPr>
                      <a:r>
                        <a:t>P_101 Platform</a:t>
                      </a:r>
                    </a:p>
                  </a:txBody>
                  <a:tcPr>
                    <a:solidFill>
                      <a:srgbClr val="1A2234"/>
                    </a:solidFill>
                  </a:tcPr>
                </a:tc>
              </a:tr>
              <a:tr h="480060">
                <a:tc>
                  <a:txBody>
                    <a:bodyPr/>
                    <a:lstStyle/>
                    <a:p>
                      <a:pPr>
                        <a:defRPr sz="1100" b="1">
                          <a:solidFill>
                            <a:srgbClr val="F8FAFC"/>
                          </a:solidFill>
                        </a:defRPr>
                      </a:pPr>
                      <a:r>
                        <a:t>Throughput</a:t>
                      </a:r>
                    </a:p>
                  </a:txBody>
                  <a:tcPr>
                    <a:solidFill>
                      <a:srgbClr val="1E293B"/>
                    </a:solidFill>
                  </a:tcPr>
                </a:tc>
                <a:tc>
                  <a:txBody>
                    <a:bodyPr/>
                    <a:lstStyle/>
                    <a:p>
                      <a:pPr>
                        <a:defRPr sz="1100">
                          <a:solidFill>
                            <a:srgbClr val="94A3B8"/>
                          </a:solidFill>
                        </a:defRPr>
                      </a:pPr>
                      <a:r>
                        <a:t>Very Low (&lt;10/hr)</a:t>
                      </a:r>
                    </a:p>
                  </a:txBody>
                  <a:tcPr>
                    <a:solidFill>
                      <a:srgbClr val="1E293B"/>
                    </a:solidFill>
                  </a:tcPr>
                </a:tc>
                <a:tc>
                  <a:txBody>
                    <a:bodyPr/>
                    <a:lstStyle/>
                    <a:p>
                      <a:pPr>
                        <a:defRPr sz="1100">
                          <a:solidFill>
                            <a:srgbClr val="94A3B8"/>
                          </a:solidFill>
                        </a:defRPr>
                      </a:pPr>
                      <a:r>
                        <a:t>Instantaneous</a:t>
                      </a:r>
                    </a:p>
                  </a:txBody>
                  <a:tcPr>
                    <a:solidFill>
                      <a:srgbClr val="1E293B"/>
                    </a:solidFill>
                  </a:tcPr>
                </a:tc>
                <a:tc>
                  <a:txBody>
                    <a:bodyPr/>
                    <a:lstStyle/>
                    <a:p>
                      <a:pPr>
                        <a:defRPr sz="1100">
                          <a:solidFill>
                            <a:srgbClr val="94A3B8"/>
                          </a:solidFill>
                        </a:defRPr>
                      </a:pPr>
                      <a:r>
                        <a:t>Variable / Costly</a:t>
                      </a:r>
                    </a:p>
                  </a:txBody>
                  <a:tcPr>
                    <a:solidFill>
                      <a:srgbClr val="1E293B"/>
                    </a:solidFill>
                  </a:tcPr>
                </a:tc>
                <a:tc>
                  <a:txBody>
                    <a:bodyPr/>
                    <a:lstStyle/>
                    <a:p>
                      <a:pPr>
                        <a:defRPr sz="1100" b="1">
                          <a:solidFill>
                            <a:srgbClr val="10B981"/>
                          </a:solidFill>
                        </a:defRPr>
                      </a:pPr>
                      <a:r>
                        <a:t>High (Median 72ms)</a:t>
                      </a:r>
                    </a:p>
                  </a:txBody>
                  <a:tcPr>
                    <a:solidFill>
                      <a:srgbClr val="1E293B"/>
                    </a:solidFill>
                  </a:tcPr>
                </a:tc>
              </a:tr>
              <a:tr h="480060">
                <a:tc>
                  <a:txBody>
                    <a:bodyPr/>
                    <a:lstStyle/>
                    <a:p>
                      <a:pPr>
                        <a:defRPr sz="1100" b="1">
                          <a:solidFill>
                            <a:srgbClr val="F8FAFC"/>
                          </a:solidFill>
                        </a:defRPr>
                      </a:pPr>
                      <a:r>
                        <a:t>Synonym / Alias Handling</a:t>
                      </a:r>
                    </a:p>
                  </a:txBody>
                  <a:tcPr>
                    <a:solidFill>
                      <a:srgbClr val="1E293B"/>
                    </a:solidFill>
                  </a:tcPr>
                </a:tc>
                <a:tc>
                  <a:txBody>
                    <a:bodyPr/>
                    <a:lstStyle/>
                    <a:p>
                      <a:pPr>
                        <a:defRPr sz="1100">
                          <a:solidFill>
                            <a:srgbClr val="94A3B8"/>
                          </a:solidFill>
                        </a:defRPr>
                      </a:pPr>
                      <a:r>
                        <a:t>Subjective</a:t>
                      </a:r>
                    </a:p>
                  </a:txBody>
                  <a:tcPr>
                    <a:solidFill>
                      <a:srgbClr val="1E293B"/>
                    </a:solidFill>
                  </a:tcPr>
                </a:tc>
                <a:tc>
                  <a:txBody>
                    <a:bodyPr/>
                    <a:lstStyle/>
                    <a:p>
                      <a:pPr>
                        <a:defRPr sz="1100">
                          <a:solidFill>
                            <a:srgbClr val="94A3B8"/>
                          </a:solidFill>
                        </a:defRPr>
                      </a:pPr>
                      <a:r>
                        <a:t>Fails 'JS' / 'K8s'</a:t>
                      </a:r>
                    </a:p>
                  </a:txBody>
                  <a:tcPr>
                    <a:solidFill>
                      <a:srgbClr val="1E293B"/>
                    </a:solidFill>
                  </a:tcPr>
                </a:tc>
                <a:tc>
                  <a:txBody>
                    <a:bodyPr/>
                    <a:lstStyle/>
                    <a:p>
                      <a:pPr>
                        <a:defRPr sz="1100">
                          <a:solidFill>
                            <a:srgbClr val="94A3B8"/>
                          </a:solidFill>
                        </a:defRPr>
                      </a:pPr>
                      <a:r>
                        <a:t>Good, but unpredictable</a:t>
                      </a:r>
                    </a:p>
                  </a:txBody>
                  <a:tcPr>
                    <a:solidFill>
                      <a:srgbClr val="1E293B"/>
                    </a:solidFill>
                  </a:tcPr>
                </a:tc>
                <a:tc>
                  <a:txBody>
                    <a:bodyPr/>
                    <a:lstStyle/>
                    <a:p>
                      <a:pPr>
                        <a:defRPr sz="1100" b="1">
                          <a:solidFill>
                            <a:srgbClr val="10B981"/>
                          </a:solidFill>
                        </a:defRPr>
                      </a:pPr>
                      <a:r>
                        <a:t>100% Canonical Taxonomy</a:t>
                      </a:r>
                    </a:p>
                  </a:txBody>
                  <a:tcPr>
                    <a:solidFill>
                      <a:srgbClr val="1E293B"/>
                    </a:solidFill>
                  </a:tcPr>
                </a:tc>
              </a:tr>
              <a:tr h="480060">
                <a:tc>
                  <a:txBody>
                    <a:bodyPr/>
                    <a:lstStyle/>
                    <a:p>
                      <a:pPr>
                        <a:defRPr sz="1100" b="1">
                          <a:solidFill>
                            <a:srgbClr val="F8FAFC"/>
                          </a:solidFill>
                        </a:defRPr>
                      </a:pPr>
                      <a:r>
                        <a:t>Context Awareness</a:t>
                      </a:r>
                    </a:p>
                  </a:txBody>
                  <a:tcPr>
                    <a:solidFill>
                      <a:srgbClr val="1E293B"/>
                    </a:solidFill>
                  </a:tcPr>
                </a:tc>
                <a:tc>
                  <a:txBody>
                    <a:bodyPr/>
                    <a:lstStyle/>
                    <a:p>
                      <a:pPr>
                        <a:defRPr sz="1100">
                          <a:solidFill>
                            <a:srgbClr val="94A3B8"/>
                          </a:solidFill>
                        </a:defRPr>
                      </a:pPr>
                      <a:r>
                        <a:t>High</a:t>
                      </a:r>
                    </a:p>
                  </a:txBody>
                  <a:tcPr>
                    <a:solidFill>
                      <a:srgbClr val="1E293B"/>
                    </a:solidFill>
                  </a:tcPr>
                </a:tc>
                <a:tc>
                  <a:txBody>
                    <a:bodyPr/>
                    <a:lstStyle/>
                    <a:p>
                      <a:pPr>
                        <a:defRPr sz="1100">
                          <a:solidFill>
                            <a:srgbClr val="94A3B8"/>
                          </a:solidFill>
                        </a:defRPr>
                      </a:pPr>
                      <a:r>
                        <a:t>Zero</a:t>
                      </a:r>
                    </a:p>
                  </a:txBody>
                  <a:tcPr>
                    <a:solidFill>
                      <a:srgbClr val="1E293B"/>
                    </a:solidFill>
                  </a:tcPr>
                </a:tc>
                <a:tc>
                  <a:txBody>
                    <a:bodyPr/>
                    <a:lstStyle/>
                    <a:p>
                      <a:pPr>
                        <a:defRPr sz="1100">
                          <a:solidFill>
                            <a:srgbClr val="94A3B8"/>
                          </a:solidFill>
                        </a:defRPr>
                      </a:pPr>
                      <a:r>
                        <a:t>High</a:t>
                      </a:r>
                    </a:p>
                  </a:txBody>
                  <a:tcPr>
                    <a:solidFill>
                      <a:srgbClr val="1E293B"/>
                    </a:solidFill>
                  </a:tcPr>
                </a:tc>
                <a:tc>
                  <a:txBody>
                    <a:bodyPr/>
                    <a:lstStyle/>
                    <a:p>
                      <a:pPr>
                        <a:defRPr sz="1100" b="1">
                          <a:solidFill>
                            <a:srgbClr val="10B981"/>
                          </a:solidFill>
                        </a:defRPr>
                      </a:pPr>
                      <a:r>
                        <a:t>Dense Cosine Embeddings</a:t>
                      </a:r>
                    </a:p>
                  </a:txBody>
                  <a:tcPr>
                    <a:solidFill>
                      <a:srgbClr val="1E293B"/>
                    </a:solidFill>
                  </a:tcPr>
                </a:tc>
              </a:tr>
              <a:tr h="480060">
                <a:tc>
                  <a:txBody>
                    <a:bodyPr/>
                    <a:lstStyle/>
                    <a:p>
                      <a:pPr>
                        <a:defRPr sz="1100" b="1">
                          <a:solidFill>
                            <a:srgbClr val="F8FAFC"/>
                          </a:solidFill>
                        </a:defRPr>
                      </a:pPr>
                      <a:r>
                        <a:t>Scoring Reproducibility</a:t>
                      </a:r>
                    </a:p>
                  </a:txBody>
                  <a:tcPr>
                    <a:solidFill>
                      <a:srgbClr val="1E293B"/>
                    </a:solidFill>
                  </a:tcPr>
                </a:tc>
                <a:tc>
                  <a:txBody>
                    <a:bodyPr/>
                    <a:lstStyle/>
                    <a:p>
                      <a:pPr>
                        <a:defRPr sz="1100">
                          <a:solidFill>
                            <a:srgbClr val="94A3B8"/>
                          </a:solidFill>
                        </a:defRPr>
                      </a:pPr>
                      <a:r>
                        <a:t>Inconsistent</a:t>
                      </a:r>
                    </a:p>
                  </a:txBody>
                  <a:tcPr>
                    <a:solidFill>
                      <a:srgbClr val="1E293B"/>
                    </a:solidFill>
                  </a:tcPr>
                </a:tc>
                <a:tc>
                  <a:txBody>
                    <a:bodyPr/>
                    <a:lstStyle/>
                    <a:p>
                      <a:pPr>
                        <a:defRPr sz="1100">
                          <a:solidFill>
                            <a:srgbClr val="94A3B8"/>
                          </a:solidFill>
                        </a:defRPr>
                      </a:pPr>
                      <a:r>
                        <a:t>Deterministic</a:t>
                      </a:r>
                    </a:p>
                  </a:txBody>
                  <a:tcPr>
                    <a:solidFill>
                      <a:srgbClr val="1E293B"/>
                    </a:solidFill>
                  </a:tcPr>
                </a:tc>
                <a:tc>
                  <a:txBody>
                    <a:bodyPr/>
                    <a:lstStyle/>
                    <a:p>
                      <a:pPr>
                        <a:defRPr sz="1100">
                          <a:solidFill>
                            <a:srgbClr val="94A3B8"/>
                          </a:solidFill>
                        </a:defRPr>
                      </a:pPr>
                      <a:r>
                        <a:t>Non-Deterministic</a:t>
                      </a:r>
                    </a:p>
                  </a:txBody>
                  <a:tcPr>
                    <a:solidFill>
                      <a:srgbClr val="1E293B"/>
                    </a:solidFill>
                  </a:tcPr>
                </a:tc>
                <a:tc>
                  <a:txBody>
                    <a:bodyPr/>
                    <a:lstStyle/>
                    <a:p>
                      <a:pPr>
                        <a:defRPr sz="1100" b="1">
                          <a:solidFill>
                            <a:srgbClr val="10B981"/>
                          </a:solidFill>
                        </a:defRPr>
                      </a:pPr>
                      <a:r>
                        <a:t>100% Deterministic Math</a:t>
                      </a:r>
                    </a:p>
                  </a:txBody>
                  <a:tcPr>
                    <a:solidFill>
                      <a:srgbClr val="1E293B"/>
                    </a:solidFill>
                  </a:tcPr>
                </a:tc>
              </a:tr>
              <a:tr h="480060">
                <a:tc>
                  <a:txBody>
                    <a:bodyPr/>
                    <a:lstStyle/>
                    <a:p>
                      <a:pPr>
                        <a:defRPr sz="1100" b="1">
                          <a:solidFill>
                            <a:srgbClr val="F8FAFC"/>
                          </a:solidFill>
                        </a:defRPr>
                      </a:pPr>
                      <a:r>
                        <a:t>Hallucination Risk</a:t>
                      </a:r>
                    </a:p>
                  </a:txBody>
                  <a:tcPr>
                    <a:solidFill>
                      <a:srgbClr val="1E293B"/>
                    </a:solidFill>
                  </a:tcPr>
                </a:tc>
                <a:tc>
                  <a:txBody>
                    <a:bodyPr/>
                    <a:lstStyle/>
                    <a:p>
                      <a:pPr>
                        <a:defRPr sz="1100">
                          <a:solidFill>
                            <a:srgbClr val="94A3B8"/>
                          </a:solidFill>
                        </a:defRPr>
                      </a:pPr>
                      <a:r>
                        <a:t>None</a:t>
                      </a:r>
                    </a:p>
                  </a:txBody>
                  <a:tcPr>
                    <a:solidFill>
                      <a:srgbClr val="1E293B"/>
                    </a:solidFill>
                  </a:tcPr>
                </a:tc>
                <a:tc>
                  <a:txBody>
                    <a:bodyPr/>
                    <a:lstStyle/>
                    <a:p>
                      <a:pPr>
                        <a:defRPr sz="1100">
                          <a:solidFill>
                            <a:srgbClr val="94A3B8"/>
                          </a:solidFill>
                        </a:defRPr>
                      </a:pPr>
                      <a:r>
                        <a:t>None</a:t>
                      </a:r>
                    </a:p>
                  </a:txBody>
                  <a:tcPr>
                    <a:solidFill>
                      <a:srgbClr val="1E293B"/>
                    </a:solidFill>
                  </a:tcPr>
                </a:tc>
                <a:tc>
                  <a:txBody>
                    <a:bodyPr/>
                    <a:lstStyle/>
                    <a:p>
                      <a:pPr>
                        <a:defRPr sz="1100">
                          <a:solidFill>
                            <a:srgbClr val="94A3B8"/>
                          </a:solidFill>
                        </a:defRPr>
                      </a:pPr>
                      <a:r>
                        <a:t>High Risk</a:t>
                      </a:r>
                    </a:p>
                  </a:txBody>
                  <a:tcPr>
                    <a:solidFill>
                      <a:srgbClr val="1E293B"/>
                    </a:solidFill>
                  </a:tcPr>
                </a:tc>
                <a:tc>
                  <a:txBody>
                    <a:bodyPr/>
                    <a:lstStyle/>
                    <a:p>
                      <a:pPr>
                        <a:defRPr sz="1100" b="1">
                          <a:solidFill>
                            <a:srgbClr val="10B981"/>
                          </a:solidFill>
                        </a:defRPr>
                      </a:pPr>
                      <a:r>
                        <a:t>0% (Strictly Guarded)</a:t>
                      </a:r>
                    </a:p>
                  </a:txBody>
                  <a:tcPr>
                    <a:solidFill>
                      <a:srgbClr val="1E293B"/>
                    </a:solidFill>
                  </a:tcPr>
                </a:tc>
              </a:tr>
              <a:tr h="480060">
                <a:tc>
                  <a:txBody>
                    <a:bodyPr/>
                    <a:lstStyle/>
                    <a:p>
                      <a:pPr>
                        <a:defRPr sz="1100" b="1">
                          <a:solidFill>
                            <a:srgbClr val="F8FAFC"/>
                          </a:solidFill>
                        </a:defRPr>
                      </a:pPr>
                      <a:r>
                        <a:t>Verbatim Evidence Audit</a:t>
                      </a:r>
                    </a:p>
                  </a:txBody>
                  <a:tcPr>
                    <a:solidFill>
                      <a:srgbClr val="1E293B"/>
                    </a:solidFill>
                  </a:tcPr>
                </a:tc>
                <a:tc>
                  <a:txBody>
                    <a:bodyPr/>
                    <a:lstStyle/>
                    <a:p>
                      <a:pPr>
                        <a:defRPr sz="1100">
                          <a:solidFill>
                            <a:srgbClr val="94A3B8"/>
                          </a:solidFill>
                        </a:defRPr>
                      </a:pPr>
                      <a:r>
                        <a:t>None</a:t>
                      </a:r>
                    </a:p>
                  </a:txBody>
                  <a:tcPr>
                    <a:solidFill>
                      <a:srgbClr val="1E293B"/>
                    </a:solidFill>
                  </a:tcPr>
                </a:tc>
                <a:tc>
                  <a:txBody>
                    <a:bodyPr/>
                    <a:lstStyle/>
                    <a:p>
                      <a:pPr>
                        <a:defRPr sz="1100">
                          <a:solidFill>
                            <a:srgbClr val="94A3B8"/>
                          </a:solidFill>
                        </a:defRPr>
                      </a:pPr>
                      <a:r>
                        <a:t>Keyword Hits</a:t>
                      </a:r>
                    </a:p>
                  </a:txBody>
                  <a:tcPr>
                    <a:solidFill>
                      <a:srgbClr val="1E293B"/>
                    </a:solidFill>
                  </a:tcPr>
                </a:tc>
                <a:tc>
                  <a:txBody>
                    <a:bodyPr/>
                    <a:lstStyle/>
                    <a:p>
                      <a:pPr>
                        <a:defRPr sz="1100">
                          <a:solidFill>
                            <a:srgbClr val="94A3B8"/>
                          </a:solidFill>
                        </a:defRPr>
                      </a:pPr>
                      <a:r>
                        <a:t>Vague / Fabricated</a:t>
                      </a:r>
                    </a:p>
                  </a:txBody>
                  <a:tcPr>
                    <a:solidFill>
                      <a:srgbClr val="1E293B"/>
                    </a:solidFill>
                  </a:tcPr>
                </a:tc>
                <a:tc>
                  <a:txBody>
                    <a:bodyPr/>
                    <a:lstStyle/>
                    <a:p>
                      <a:pPr>
                        <a:defRPr sz="1100" b="1">
                          <a:solidFill>
                            <a:srgbClr val="10B981"/>
                          </a:solidFill>
                        </a:defRPr>
                      </a:pPr>
                      <a:r>
                        <a:t>Exact Resume Quotes</a:t>
                      </a:r>
                    </a:p>
                  </a:txBody>
                  <a:tcPr>
                    <a:solidFill>
                      <a:srgbClr val="1E293B"/>
                    </a:solidFill>
                  </a:tcPr>
                </a:tc>
              </a:tr>
              <a:tr h="480060">
                <a:tc>
                  <a:txBody>
                    <a:bodyPr/>
                    <a:lstStyle/>
                    <a:p>
                      <a:pPr>
                        <a:defRPr sz="1100" b="1">
                          <a:solidFill>
                            <a:srgbClr val="F8FAFC"/>
                          </a:solidFill>
                        </a:defRPr>
                      </a:pPr>
                      <a:r>
                        <a:t>Must-Have Enforcement</a:t>
                      </a:r>
                    </a:p>
                  </a:txBody>
                  <a:tcPr>
                    <a:solidFill>
                      <a:srgbClr val="1E293B"/>
                    </a:solidFill>
                  </a:tcPr>
                </a:tc>
                <a:tc>
                  <a:txBody>
                    <a:bodyPr/>
                    <a:lstStyle/>
                    <a:p>
                      <a:pPr>
                        <a:defRPr sz="1100">
                          <a:solidFill>
                            <a:srgbClr val="94A3B8"/>
                          </a:solidFill>
                        </a:defRPr>
                      </a:pPr>
                      <a:r>
                        <a:t>Fatigued</a:t>
                      </a:r>
                    </a:p>
                  </a:txBody>
                  <a:tcPr>
                    <a:solidFill>
                      <a:srgbClr val="1E293B"/>
                    </a:solidFill>
                  </a:tcPr>
                </a:tc>
                <a:tc>
                  <a:txBody>
                    <a:bodyPr/>
                    <a:lstStyle/>
                    <a:p>
                      <a:pPr>
                        <a:defRPr sz="1100">
                          <a:solidFill>
                            <a:srgbClr val="94A3B8"/>
                          </a:solidFill>
                        </a:defRPr>
                      </a:pPr>
                      <a:r>
                        <a:t>Rigid String</a:t>
                      </a:r>
                    </a:p>
                  </a:txBody>
                  <a:tcPr>
                    <a:solidFill>
                      <a:srgbClr val="1E293B"/>
                    </a:solidFill>
                  </a:tcPr>
                </a:tc>
                <a:tc>
                  <a:txBody>
                    <a:bodyPr/>
                    <a:lstStyle/>
                    <a:p>
                      <a:pPr>
                        <a:defRPr sz="1100">
                          <a:solidFill>
                            <a:srgbClr val="94A3B8"/>
                          </a:solidFill>
                        </a:defRPr>
                      </a:pPr>
                      <a:r>
                        <a:t>Bypassed by Prose</a:t>
                      </a:r>
                    </a:p>
                  </a:txBody>
                  <a:tcPr>
                    <a:solidFill>
                      <a:srgbClr val="1E293B"/>
                    </a:solidFill>
                  </a:tcPr>
                </a:tc>
                <a:tc>
                  <a:txBody>
                    <a:bodyPr/>
                    <a:lstStyle/>
                    <a:p>
                      <a:pPr>
                        <a:defRPr sz="1100" b="1">
                          <a:solidFill>
                            <a:srgbClr val="10B981"/>
                          </a:solidFill>
                        </a:defRPr>
                      </a:pPr>
                      <a:r>
                        <a:t>Authoritative Gating</a:t>
                      </a:r>
                    </a:p>
                  </a:txBody>
                  <a:tcPr>
                    <a:solidFill>
                      <a:srgbClr val="1E293B"/>
                    </a:solidFill>
                  </a:tcPr>
                </a:tc>
              </a:tr>
            </a:tbl>
          </a:graphicData>
        </a:graphic>
      </p:graphicFrame>
      <p:sp>
        <p:nvSpPr>
          <p:cNvPr id="6" name="Rounded Rectangle 5"/>
          <p:cNvSpPr/>
          <p:nvPr/>
        </p:nvSpPr>
        <p:spPr>
          <a:xfrm>
            <a:off x="731520" y="5760720"/>
            <a:ext cx="10725912" cy="640080"/>
          </a:xfrm>
          <a:prstGeom prst="roundRect">
            <a:avLst/>
          </a:prstGeom>
          <a:solidFill>
            <a:srgbClr val="141C2D"/>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100">
                <a:solidFill>
                  <a:srgbClr val="E0E7FF"/>
                </a:solidFill>
              </a:defRPr>
            </a:pPr>
            <a:r>
              <a:t>⚖️ Responsible AI Note: P_101 reduces reliance on demographic signals, but this does not constitute proof of absence of bias. Final hiring decisions remain solely with human recruiters.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Five-Tier System Architecture</a:t>
            </a:r>
          </a:p>
          <a:p>
            <a:pPr>
              <a:defRPr sz="1300">
                <a:solidFill>
                  <a:srgbClr val="94A3B8"/>
                </a:solidFill>
              </a:defRPr>
            </a:pPr>
            <a:r>
              <a:t>Decoupled pipe-and-filter design enforcing mathematical separation of concerns</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05 / 15</a:t>
            </a:r>
          </a:p>
        </p:txBody>
      </p:sp>
      <p:sp>
        <p:nvSpPr>
          <p:cNvPr id="5" name="Rounded Rectangle 4"/>
          <p:cNvSpPr/>
          <p:nvPr/>
        </p:nvSpPr>
        <p:spPr>
          <a:xfrm>
            <a:off x="731520" y="1554480"/>
            <a:ext cx="10725912" cy="594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91440" lIns="182880"/>
          <a:lstStyle/>
          <a:p>
            <a:pPr algn="ctr"/>
            <a:r>
              <a:rPr b="1" sz="1200">
                <a:solidFill>
                  <a:srgbClr val="818CF8"/>
                </a:solidFill>
              </a:rPr>
              <a:t>1. PRESENTATION LAYER:  </a:t>
            </a:r>
            <a:r>
              <a:rPr sz="1100">
                <a:solidFill>
                  <a:srgbClr val="F8FAFC"/>
                </a:solidFill>
              </a:rPr>
              <a:t>Next.js 16 / React 19 / Tailwind CSS v4 — Recruiter Dashboard, Job Setup, Screening Workspace, Audit Views</a:t>
            </a:r>
          </a:p>
        </p:txBody>
      </p:sp>
      <p:sp>
        <p:nvSpPr>
          <p:cNvPr id="6" name="Rounded Rectangle 5"/>
          <p:cNvSpPr/>
          <p:nvPr/>
        </p:nvSpPr>
        <p:spPr>
          <a:xfrm>
            <a:off x="731520" y="2240280"/>
            <a:ext cx="10725912" cy="594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91440" lIns="182880"/>
          <a:lstStyle/>
          <a:p>
            <a:pPr algn="ctr"/>
            <a:r>
              <a:rPr b="1" sz="1200">
                <a:solidFill>
                  <a:srgbClr val="818CF8"/>
                </a:solidFill>
              </a:rPr>
              <a:t>2. API &amp; ROUTING LAYER:  </a:t>
            </a:r>
            <a:r>
              <a:rPr sz="1100">
                <a:solidFill>
                  <a:srgbClr val="F8FAFC"/>
                </a:solidFill>
              </a:rPr>
              <a:t>FastAPI / Pydantic v2 / REST /api/v1 — /jobs, /resumes, /skills, /matching, /scoring, /gaps, /explanations</a:t>
            </a:r>
          </a:p>
        </p:txBody>
      </p:sp>
      <p:sp>
        <p:nvSpPr>
          <p:cNvPr id="7" name="Rounded Rectangle 6"/>
          <p:cNvSpPr/>
          <p:nvPr/>
        </p:nvSpPr>
        <p:spPr>
          <a:xfrm>
            <a:off x="731520" y="2926080"/>
            <a:ext cx="10725912" cy="594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91440" lIns="182880"/>
          <a:lstStyle/>
          <a:p>
            <a:pPr algn="ctr"/>
            <a:r>
              <a:rPr b="1" sz="1200">
                <a:solidFill>
                  <a:srgbClr val="818CF8"/>
                </a:solidFill>
              </a:rPr>
              <a:t>3. DOCUMENT PROCESSING:  </a:t>
            </a:r>
            <a:r>
              <a:rPr sz="1100">
                <a:solidFill>
                  <a:srgbClr val="F8FAFC"/>
                </a:solidFill>
              </a:rPr>
              <a:t>PyMuPDF (PDF Block Sort) • python-docx • Section Segmentation • Canonical Skill Normalizer</a:t>
            </a:r>
          </a:p>
        </p:txBody>
      </p:sp>
      <p:sp>
        <p:nvSpPr>
          <p:cNvPr id="8" name="Rounded Rectangle 7"/>
          <p:cNvSpPr/>
          <p:nvPr/>
        </p:nvSpPr>
        <p:spPr>
          <a:xfrm>
            <a:off x="731520" y="3611880"/>
            <a:ext cx="10725912" cy="594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91440" lIns="182880"/>
          <a:lstStyle/>
          <a:p>
            <a:pPr algn="ctr"/>
            <a:r>
              <a:rPr b="1" sz="1200">
                <a:solidFill>
                  <a:srgbClr val="818CF8"/>
                </a:solidFill>
              </a:rPr>
              <a:t>4. DECISION &amp; AI LAYER:  </a:t>
            </a:r>
            <a:r>
              <a:rPr sz="1100">
                <a:solidFill>
                  <a:srgbClr val="F8FAFC"/>
                </a:solidFill>
              </a:rPr>
              <a:t>Deterministic Engine (Must-Have Authority) -&gt; Dense Semantic Engine (all-MiniLM-L6-v2) -&gt; Multi-Layer Scorer -&gt; Constrained LLM Adapter (Briefing Only)</a:t>
            </a:r>
          </a:p>
        </p:txBody>
      </p:sp>
      <p:sp>
        <p:nvSpPr>
          <p:cNvPr id="9" name="Rounded Rectangle 8"/>
          <p:cNvSpPr/>
          <p:nvPr/>
        </p:nvSpPr>
        <p:spPr>
          <a:xfrm>
            <a:off x="731520" y="4297680"/>
            <a:ext cx="10725912" cy="5943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91440" lIns="182880"/>
          <a:lstStyle/>
          <a:p>
            <a:pPr algn="ctr"/>
            <a:r>
              <a:rPr b="1" sz="1200">
                <a:solidFill>
                  <a:srgbClr val="818CF8"/>
                </a:solidFill>
              </a:rPr>
              <a:t>5. DATA PERSISTENCE:  </a:t>
            </a:r>
            <a:r>
              <a:rPr sz="1100">
                <a:solidFill>
                  <a:srgbClr val="F8FAFC"/>
                </a:solidFill>
              </a:rPr>
              <a:t>SQLAlchemy 2.0 / SQLite — Jobs, Candidates, Resumes, Profiles, Requirements, Scores, Skill Gaps</a:t>
            </a:r>
          </a:p>
        </p:txBody>
      </p:sp>
      <p:sp>
        <p:nvSpPr>
          <p:cNvPr id="10" name="Rounded Rectangle 9"/>
          <p:cNvSpPr/>
          <p:nvPr/>
        </p:nvSpPr>
        <p:spPr>
          <a:xfrm>
            <a:off x="731520" y="5120640"/>
            <a:ext cx="5120640" cy="1188720"/>
          </a:xfrm>
          <a:prstGeom prst="roundRect">
            <a:avLst/>
          </a:prstGeom>
          <a:solidFill>
            <a:srgbClr val="1A2234"/>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200">
                <a:solidFill>
                  <a:srgbClr val="818CF8"/>
                </a:solidFill>
              </a:defRPr>
            </a:pPr>
            <a:r>
              <a:t>🔒 Core Invariant: LLM != Source of Truth</a:t>
            </a:r>
          </a:p>
          <a:p>
            <a:pPr>
              <a:spcBef>
                <a:spcPts val="400"/>
              </a:spcBef>
              <a:defRPr sz="1100">
                <a:solidFill>
                  <a:srgbClr val="F8FAFC"/>
                </a:solidFill>
              </a:defRPr>
            </a:pPr>
            <a:r>
              <a:t>Hard requirements are governed solely by mathematical set logic. The LLM only explains what the deterministic engine proved.</a:t>
            </a:r>
          </a:p>
        </p:txBody>
      </p:sp>
      <p:sp>
        <p:nvSpPr>
          <p:cNvPr id="11" name="Rounded Rectangle 10"/>
          <p:cNvSpPr/>
          <p:nvPr/>
        </p:nvSpPr>
        <p:spPr>
          <a:xfrm>
            <a:off x="6336792" y="5120640"/>
            <a:ext cx="5120640" cy="1188720"/>
          </a:xfrm>
          <a:prstGeom prst="roundRect">
            <a:avLst/>
          </a:prstGeom>
          <a:solidFill>
            <a:srgbClr val="1A2234"/>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200">
                <a:solidFill>
                  <a:srgbClr val="818CF8"/>
                </a:solidFill>
              </a:defRPr>
            </a:pPr>
            <a:r>
              <a:t>🚫 Decision Boundary: LLM != Hiring Decision</a:t>
            </a:r>
          </a:p>
          <a:p>
            <a:pPr>
              <a:spcBef>
                <a:spcPts val="400"/>
              </a:spcBef>
              <a:defRPr sz="1100">
                <a:solidFill>
                  <a:srgbClr val="F8FAFC"/>
                </a:solidFill>
              </a:defRPr>
            </a:pPr>
            <a:r>
              <a:t>The system provides decision-support evidence without automated stack-ranking or auto-rejection mechanisms.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Production Technology Stack</a:t>
            </a:r>
          </a:p>
          <a:p>
            <a:pPr>
              <a:defRPr sz="1300">
                <a:solidFill>
                  <a:srgbClr val="94A3B8"/>
                </a:solidFill>
              </a:defRPr>
            </a:pPr>
            <a:r>
              <a:t>Verified, self-contained open-source technologies running 100% locally on CPU</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06 / 15</a:t>
            </a:r>
          </a:p>
        </p:txBody>
      </p:sp>
      <p:sp>
        <p:nvSpPr>
          <p:cNvPr id="5" name="Rounded Rectangle 4"/>
          <p:cNvSpPr/>
          <p:nvPr/>
        </p:nvSpPr>
        <p:spPr>
          <a:xfrm>
            <a:off x="731520" y="1645920"/>
            <a:ext cx="3328416"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400">
                <a:solidFill>
                  <a:srgbClr val="818CF8"/>
                </a:solidFill>
              </a:defRPr>
            </a:pPr>
            <a:r>
              <a:t>🐍 Backend Core</a:t>
            </a:r>
          </a:p>
          <a:p>
            <a:pPr>
              <a:spcBef>
                <a:spcPts val="600"/>
              </a:spcBef>
              <a:defRPr sz="1100">
                <a:solidFill>
                  <a:srgbClr val="F8FAFC"/>
                </a:solidFill>
              </a:defRPr>
            </a:pPr>
            <a:r>
              <a:t>Python 3.11+</a:t>
            </a:r>
            <a:br/>
            <a:r>
              <a:t>FastAPI 0.115+</a:t>
            </a:r>
            <a:br/>
            <a:r>
              <a:t>Pydantic v2</a:t>
            </a:r>
            <a:br/>
            <a:r>
              <a:t>Uvicorn ASGI</a:t>
            </a:r>
          </a:p>
        </p:txBody>
      </p:sp>
      <p:sp>
        <p:nvSpPr>
          <p:cNvPr id="6" name="Rounded Rectangle 5"/>
          <p:cNvSpPr/>
          <p:nvPr/>
        </p:nvSpPr>
        <p:spPr>
          <a:xfrm>
            <a:off x="4425696" y="1645920"/>
            <a:ext cx="3328416"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400">
                <a:solidFill>
                  <a:srgbClr val="818CF8"/>
                </a:solidFill>
              </a:defRPr>
            </a:pPr>
            <a:r>
              <a:t>⚛️ Frontend Web</a:t>
            </a:r>
          </a:p>
          <a:p>
            <a:pPr>
              <a:spcBef>
                <a:spcPts val="600"/>
              </a:spcBef>
              <a:defRPr sz="1100">
                <a:solidFill>
                  <a:srgbClr val="F8FAFC"/>
                </a:solidFill>
              </a:defRPr>
            </a:pPr>
            <a:r>
              <a:t>Next.js 16.3.8 (Turbopack)</a:t>
            </a:r>
            <a:br/>
            <a:r>
              <a:t>React 19.0 / TypeScript</a:t>
            </a:r>
            <a:br/>
            <a:r>
              <a:t>Tailwind CSS v4</a:t>
            </a:r>
            <a:br/>
            <a:r>
              <a:t>Lucide-React Icons</a:t>
            </a:r>
          </a:p>
        </p:txBody>
      </p:sp>
      <p:sp>
        <p:nvSpPr>
          <p:cNvPr id="7" name="Rounded Rectangle 6"/>
          <p:cNvSpPr/>
          <p:nvPr/>
        </p:nvSpPr>
        <p:spPr>
          <a:xfrm>
            <a:off x="8119872" y="1645920"/>
            <a:ext cx="3328416"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400">
                <a:solidFill>
                  <a:srgbClr val="818CF8"/>
                </a:solidFill>
              </a:defRPr>
            </a:pPr>
            <a:r>
              <a:t>📄 Document Parsing</a:t>
            </a:r>
          </a:p>
          <a:p>
            <a:pPr>
              <a:spcBef>
                <a:spcPts val="600"/>
              </a:spcBef>
              <a:defRPr sz="1100">
                <a:solidFill>
                  <a:srgbClr val="F8FAFC"/>
                </a:solidFill>
              </a:defRPr>
            </a:pPr>
            <a:r>
              <a:t>PyMuPDF (fitz 1.28)</a:t>
            </a:r>
            <a:br/>
            <a:r>
              <a:t>python-docx 1.2</a:t>
            </a:r>
            <a:br/>
            <a:r>
              <a:t>Magic byte validation</a:t>
            </a:r>
            <a:br/>
            <a:r>
              <a:t>Scanned PDF detection (422)</a:t>
            </a:r>
          </a:p>
        </p:txBody>
      </p:sp>
      <p:sp>
        <p:nvSpPr>
          <p:cNvPr id="8" name="Rounded Rectangle 7"/>
          <p:cNvSpPr/>
          <p:nvPr/>
        </p:nvSpPr>
        <p:spPr>
          <a:xfrm>
            <a:off x="731520" y="3931920"/>
            <a:ext cx="3328416"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400">
                <a:solidFill>
                  <a:srgbClr val="818CF8"/>
                </a:solidFill>
              </a:defRPr>
            </a:pPr>
            <a:r>
              <a:t>🧠 Local NLP &amp; AI</a:t>
            </a:r>
          </a:p>
          <a:p>
            <a:pPr>
              <a:spcBef>
                <a:spcPts val="600"/>
              </a:spcBef>
              <a:defRPr sz="1100">
                <a:solidFill>
                  <a:srgbClr val="F8FAFC"/>
                </a:solidFill>
              </a:defRPr>
            </a:pPr>
            <a:r>
              <a:t>sentence-transformers 6.1</a:t>
            </a:r>
            <a:br/>
            <a:r>
              <a:t>all-MiniLM-L6-v2 (CPU)</a:t>
            </a:r>
            <a:br/>
            <a:r>
              <a:t>Cosine Similarity</a:t>
            </a:r>
            <a:br/>
            <a:r>
              <a:t>Offline MockLLM Adapter</a:t>
            </a:r>
          </a:p>
        </p:txBody>
      </p:sp>
      <p:sp>
        <p:nvSpPr>
          <p:cNvPr id="9" name="Rounded Rectangle 8"/>
          <p:cNvSpPr/>
          <p:nvPr/>
        </p:nvSpPr>
        <p:spPr>
          <a:xfrm>
            <a:off x="4425696" y="3931920"/>
            <a:ext cx="3328416"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400">
                <a:solidFill>
                  <a:srgbClr val="818CF8"/>
                </a:solidFill>
              </a:defRPr>
            </a:pPr>
            <a:r>
              <a:t>💾 Data &amp; Persistence</a:t>
            </a:r>
          </a:p>
          <a:p>
            <a:pPr>
              <a:spcBef>
                <a:spcPts val="600"/>
              </a:spcBef>
              <a:defRPr sz="1100">
                <a:solidFill>
                  <a:srgbClr val="F8FAFC"/>
                </a:solidFill>
              </a:defRPr>
            </a:pPr>
            <a:r>
              <a:t>SQLite Relational DB</a:t>
            </a:r>
            <a:br/>
            <a:r>
              <a:t>SQLAlchemy 2.0 ORM</a:t>
            </a:r>
            <a:br/>
            <a:r>
              <a:t>8 Relational Tables</a:t>
            </a:r>
            <a:br/>
            <a:r>
              <a:t>100% Reproducible Audit</a:t>
            </a:r>
          </a:p>
        </p:txBody>
      </p:sp>
      <p:sp>
        <p:nvSpPr>
          <p:cNvPr id="10" name="Rounded Rectangle 9"/>
          <p:cNvSpPr/>
          <p:nvPr/>
        </p:nvSpPr>
        <p:spPr>
          <a:xfrm>
            <a:off x="8119872" y="3931920"/>
            <a:ext cx="3328416" cy="20116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400">
                <a:solidFill>
                  <a:srgbClr val="818CF8"/>
                </a:solidFill>
              </a:defRPr>
            </a:pPr>
            <a:r>
              <a:t>🧪 Automated Testing</a:t>
            </a:r>
          </a:p>
          <a:p>
            <a:pPr>
              <a:spcBef>
                <a:spcPts val="600"/>
              </a:spcBef>
              <a:defRPr sz="1100">
                <a:solidFill>
                  <a:srgbClr val="F8FAFC"/>
                </a:solidFill>
              </a:defRPr>
            </a:pPr>
            <a:r>
              <a:t>pytest (168 backend tests)</a:t>
            </a:r>
            <a:br/>
            <a:r>
              <a:t>Vitest (21 frontend tests)</a:t>
            </a:r>
            <a:br/>
            <a:r>
              <a:t>189 Total Passing Tests</a:t>
            </a:r>
            <a:br/>
            <a:r>
              <a:t>Zero Cloud Cost / Offline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Document Processing &amp; Schema Structuring</a:t>
            </a:r>
          </a:p>
          <a:p>
            <a:pPr>
              <a:defRPr sz="1300">
                <a:solidFill>
                  <a:srgbClr val="94A3B8"/>
                </a:solidFill>
              </a:defRPr>
            </a:pPr>
            <a:r>
              <a:t>Converting raw, messy binary files into strongly typed Pydantic models</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07 / 15</a:t>
            </a:r>
          </a:p>
        </p:txBody>
      </p:sp>
      <p:sp>
        <p:nvSpPr>
          <p:cNvPr id="5" name="Rounded Rectangle 4"/>
          <p:cNvSpPr/>
          <p:nvPr/>
        </p:nvSpPr>
        <p:spPr>
          <a:xfrm>
            <a:off x="731520"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1. Candidate Resume Pipeline</a:t>
            </a:r>
          </a:p>
          <a:p>
            <a:pPr>
              <a:spcBef>
                <a:spcPts val="400"/>
              </a:spcBef>
              <a:defRPr sz="1100">
                <a:solidFill>
                  <a:srgbClr val="F8FAFC"/>
                </a:solidFill>
              </a:defRPr>
            </a:pPr>
            <a:r>
              <a:t>• Binary Header Validation: Checks %PDF and PK\x03\x04 magic bytes; rejects scanned/empty files (422 error).</a:t>
            </a:r>
          </a:p>
          <a:p>
            <a:pPr>
              <a:spcBef>
                <a:spcPts val="400"/>
              </a:spcBef>
              <a:defRPr sz="1100">
                <a:solidFill>
                  <a:srgbClr val="F8FAFC"/>
                </a:solidFill>
              </a:defRPr>
            </a:pPr>
            <a:r>
              <a:t>• PyMuPDF Block Flow: Uses sort=True to preserve natural reading order across multi-column layouts.</a:t>
            </a:r>
          </a:p>
          <a:p>
            <a:pPr>
              <a:spcBef>
                <a:spcPts val="400"/>
              </a:spcBef>
              <a:defRPr sz="1100">
                <a:solidFill>
                  <a:srgbClr val="F8FAFC"/>
                </a:solidFill>
              </a:defRPr>
            </a:pPr>
            <a:r>
              <a:t>• Deterministic Rule Extraction: Regex extracts clean emails, phones, and LinkedIn/GitHub links.</a:t>
            </a:r>
          </a:p>
          <a:p>
            <a:pPr>
              <a:spcBef>
                <a:spcPts val="400"/>
              </a:spcBef>
              <a:defRPr sz="1100">
                <a:solidFill>
                  <a:srgbClr val="F8FAFC"/>
                </a:solidFill>
              </a:defRPr>
            </a:pPr>
            <a:r>
              <a:t>• Section Segmentation: Separates Summary, Skills, Experience, Education, and Projects.</a:t>
            </a:r>
          </a:p>
          <a:p>
            <a:pPr>
              <a:spcBef>
                <a:spcPts val="400"/>
              </a:spcBef>
              <a:defRPr sz="1100">
                <a:solidFill>
                  <a:srgbClr val="F8FAFC"/>
                </a:solidFill>
              </a:defRPr>
            </a:pPr>
            <a:r>
              <a:t>• Pydantic CandidateProfile: Strongly typed schema with normalized date ranges and experience tenure.</a:t>
            </a:r>
          </a:p>
        </p:txBody>
      </p:sp>
      <p:sp>
        <p:nvSpPr>
          <p:cNvPr id="6" name="Rounded Rectangle 5"/>
          <p:cNvSpPr/>
          <p:nvPr/>
        </p:nvSpPr>
        <p:spPr>
          <a:xfrm>
            <a:off x="6336792"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2. Job Description Pipeline</a:t>
            </a:r>
          </a:p>
          <a:p>
            <a:pPr>
              <a:spcBef>
                <a:spcPts val="400"/>
              </a:spcBef>
              <a:defRPr sz="1100">
                <a:solidFill>
                  <a:srgbClr val="F8FAFC"/>
                </a:solidFill>
              </a:defRPr>
            </a:pPr>
            <a:r>
              <a:t>• Ingestion Flexibility: Accepts plain text or uploaded PDF/DOCX job descriptions.</a:t>
            </a:r>
          </a:p>
          <a:p>
            <a:pPr>
              <a:spcBef>
                <a:spcPts val="400"/>
              </a:spcBef>
              <a:defRPr sz="1100">
                <a:solidFill>
                  <a:srgbClr val="F8FAFC"/>
                </a:solidFill>
              </a:defRPr>
            </a:pPr>
            <a:r>
              <a:t>• Requirement Extraction: Segments requirements into Technical Skills, Experience, and Education.</a:t>
            </a:r>
          </a:p>
          <a:p>
            <a:pPr>
              <a:spcBef>
                <a:spcPts val="400"/>
              </a:spcBef>
              <a:defRPr sz="1100">
                <a:solidFill>
                  <a:srgbClr val="F8FAFC"/>
                </a:solidFill>
              </a:defRPr>
            </a:pPr>
            <a:r>
              <a:t>• Priority Classification: Labels each item as Must-Have (mandatory) or Nice-to-Have (preferred).</a:t>
            </a:r>
          </a:p>
          <a:p>
            <a:pPr>
              <a:spcBef>
                <a:spcPts val="400"/>
              </a:spcBef>
              <a:defRPr sz="1100">
                <a:solidFill>
                  <a:srgbClr val="F8FAFC"/>
                </a:solidFill>
              </a:defRPr>
            </a:pPr>
            <a:r>
              <a:t>• Scope &amp; Duties Extraction: Isolates operational responsibilities for contextual semantic evaluation.</a:t>
            </a:r>
          </a:p>
          <a:p>
            <a:pPr>
              <a:spcBef>
                <a:spcPts val="400"/>
              </a:spcBef>
              <a:defRPr sz="1100">
                <a:solidFill>
                  <a:srgbClr val="F8FAFC"/>
                </a:solidFill>
              </a:defRPr>
            </a:pPr>
            <a:r>
              <a:t>• Pydantic JobProfile: Validated schema supplying canonical keys and tenure criteria to matching.</a:t>
            </a:r>
          </a:p>
        </p:txBody>
      </p:sp>
      <p:sp>
        <p:nvSpPr>
          <p:cNvPr id="7" name="Rounded Rectangle 6"/>
          <p:cNvSpPr/>
          <p:nvPr/>
        </p:nvSpPr>
        <p:spPr>
          <a:xfrm>
            <a:off x="731520" y="5760720"/>
            <a:ext cx="10725912" cy="640080"/>
          </a:xfrm>
          <a:prstGeom prst="roundRect">
            <a:avLst/>
          </a:prstGeom>
          <a:solidFill>
            <a:srgbClr val="141C2D"/>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100">
                <a:solidFill>
                  <a:srgbClr val="E0E7FF"/>
                </a:solidFill>
              </a:defRPr>
            </a:pPr>
            <a:r>
              <a:t>🛡️ Layout Protection: Multi-column resumes are parsed top-to-bottom and left-to-right without interleaving adjacent columns, avoiding garbled sentences.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Deterministic Authority vs. Semantic Context</a:t>
            </a:r>
          </a:p>
          <a:p>
            <a:pPr>
              <a:defRPr sz="1300">
                <a:solidFill>
                  <a:srgbClr val="94A3B8"/>
                </a:solidFill>
              </a:defRPr>
            </a:pPr>
            <a:r>
              <a:t>How P_101 prevents semantic similarity from falsely satisfying hard requirements</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08 / 15</a:t>
            </a:r>
          </a:p>
        </p:txBody>
      </p:sp>
      <p:sp>
        <p:nvSpPr>
          <p:cNvPr id="5" name="Rounded Rectangle 4"/>
          <p:cNvSpPr/>
          <p:nvPr/>
        </p:nvSpPr>
        <p:spPr>
          <a:xfrm>
            <a:off x="731520"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1. Deterministic Matcher (Authoritative Gatekeeper)</a:t>
            </a:r>
          </a:p>
          <a:p>
            <a:pPr>
              <a:spcBef>
                <a:spcPts val="400"/>
              </a:spcBef>
              <a:defRPr sz="1100">
                <a:solidFill>
                  <a:srgbClr val="F8FAFC"/>
                </a:solidFill>
              </a:defRPr>
            </a:pPr>
            <a:r>
              <a:t>• Resolves canonical skill aliases (e.g., 'k8s', 'kube' -&gt; Kubernetes).</a:t>
            </a:r>
          </a:p>
          <a:p>
            <a:pPr>
              <a:spcBef>
                <a:spcPts val="400"/>
              </a:spcBef>
              <a:defRPr sz="1100">
                <a:solidFill>
                  <a:srgbClr val="F8FAFC"/>
                </a:solidFill>
              </a:defRPr>
            </a:pPr>
            <a:r>
              <a:t>• Evaluates formal degree hierarchies (PhD &gt; Master's &gt; Bachelor's).</a:t>
            </a:r>
          </a:p>
          <a:p>
            <a:pPr>
              <a:spcBef>
                <a:spcPts val="400"/>
              </a:spcBef>
              <a:defRPr sz="1100">
                <a:solidFill>
                  <a:srgbClr val="F8FAFC"/>
                </a:solidFill>
              </a:defRPr>
            </a:pPr>
            <a:r>
              <a:t>• Calculates exact tenure months from validated employment date ranges.</a:t>
            </a:r>
          </a:p>
          <a:p>
            <a:pPr>
              <a:spcBef>
                <a:spcPts val="400"/>
              </a:spcBef>
              <a:defRPr sz="1100">
                <a:solidFill>
                  <a:srgbClr val="F8FAFC"/>
                </a:solidFill>
              </a:defRPr>
            </a:pPr>
            <a:r>
              <a:t>• Protected Technology Matrix: Strict isolation between distinct lookalike technologies:</a:t>
            </a:r>
          </a:p>
          <a:p>
            <a:pPr>
              <a:spcBef>
                <a:spcPts val="400"/>
              </a:spcBef>
              <a:defRPr sz="1100">
                <a:solidFill>
                  <a:srgbClr val="F8FAFC"/>
                </a:solidFill>
              </a:defRPr>
            </a:pPr>
            <a:r>
              <a:t>  - Java != JavaScript  |  C != C++  |  C != C#</a:t>
            </a:r>
          </a:p>
          <a:p>
            <a:pPr>
              <a:spcBef>
                <a:spcPts val="400"/>
              </a:spcBef>
              <a:defRPr sz="1100">
                <a:solidFill>
                  <a:srgbClr val="F8FAFC"/>
                </a:solidFill>
              </a:defRPr>
            </a:pPr>
            <a:r>
              <a:t>  - Python != PyTorch   |  React != React Native  |  AWS != AWS Lambda</a:t>
            </a:r>
          </a:p>
        </p:txBody>
      </p:sp>
      <p:sp>
        <p:nvSpPr>
          <p:cNvPr id="6" name="Rounded Rectangle 5"/>
          <p:cNvSpPr/>
          <p:nvPr/>
        </p:nvSpPr>
        <p:spPr>
          <a:xfrm>
            <a:off x="6336792"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2. Dense Semantic Matcher (Contextual Relevance)</a:t>
            </a:r>
          </a:p>
          <a:p>
            <a:pPr>
              <a:spcBef>
                <a:spcPts val="400"/>
              </a:spcBef>
              <a:defRPr sz="1100">
                <a:solidFill>
                  <a:srgbClr val="F8FAFC"/>
                </a:solidFill>
              </a:defRPr>
            </a:pPr>
            <a:r>
              <a:t>• Pretrained all-MiniLM-L6-v2 embedding model executed locally on CPU.</a:t>
            </a:r>
          </a:p>
          <a:p>
            <a:pPr>
              <a:spcBef>
                <a:spcPts val="400"/>
              </a:spcBef>
              <a:defRPr sz="1100">
                <a:solidFill>
                  <a:srgbClr val="F8FAFC"/>
                </a:solidFill>
              </a:defRPr>
            </a:pPr>
            <a:r>
              <a:t>• Computes 384-dimensional dense sentence embeddings.</a:t>
            </a:r>
          </a:p>
          <a:p>
            <a:pPr>
              <a:spcBef>
                <a:spcPts val="400"/>
              </a:spcBef>
              <a:defRPr sz="1100">
                <a:solidFill>
                  <a:srgbClr val="F8FAFC"/>
                </a:solidFill>
              </a:defRPr>
            </a:pPr>
            <a:r>
              <a:t>• Cosine similarity score bounded strictly between [0.0, 1.0].</a:t>
            </a:r>
          </a:p>
          <a:p>
            <a:pPr>
              <a:spcBef>
                <a:spcPts val="400"/>
              </a:spcBef>
              <a:defRPr sz="1100">
                <a:solidFill>
                  <a:srgbClr val="F8FAFC"/>
                </a:solidFill>
              </a:defRPr>
            </a:pPr>
            <a:r>
              <a:t>• Contextual relevance threshold: &gt;= 0.45; High similarity threshold: &gt;= 0.70.</a:t>
            </a:r>
          </a:p>
          <a:p>
            <a:pPr>
              <a:spcBef>
                <a:spcPts val="400"/>
              </a:spcBef>
              <a:defRPr sz="1100">
                <a:solidFill>
                  <a:srgbClr val="F8FAFC"/>
                </a:solidFill>
              </a:defRPr>
            </a:pPr>
            <a:r>
              <a:t>• Evaluates conceptual alignment between candidate achievements and job responsibilities.</a:t>
            </a:r>
          </a:p>
        </p:txBody>
      </p:sp>
      <p:sp>
        <p:nvSpPr>
          <p:cNvPr id="7" name="Rounded Rectangle 6"/>
          <p:cNvSpPr/>
          <p:nvPr/>
        </p:nvSpPr>
        <p:spPr>
          <a:xfrm>
            <a:off x="731520" y="5120640"/>
            <a:ext cx="10725912" cy="1188720"/>
          </a:xfrm>
          <a:prstGeom prst="roundRect">
            <a:avLst/>
          </a:prstGeom>
          <a:solidFill>
            <a:srgbClr val="231E14"/>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b="1" sz="1200">
                <a:solidFill>
                  <a:srgbClr val="F59E0B"/>
                </a:solidFill>
              </a:defRPr>
            </a:pPr>
            <a:r>
              <a:t>💡 Architectural Proof: Candidate with MySQL applying for PostgreSQL role (Must-Have)</a:t>
            </a:r>
          </a:p>
          <a:p>
            <a:pPr>
              <a:spcBef>
                <a:spcPts val="400"/>
              </a:spcBef>
              <a:defRPr sz="1100">
                <a:solidFill>
                  <a:srgbClr val="F8FAFC"/>
                </a:solidFill>
              </a:defRPr>
            </a:pPr>
            <a:r>
              <a:t>• Dense Semantic Matcher: Awards high similarity (~0.55), correctly recognizing relational database context.</a:t>
            </a:r>
            <a:br/>
            <a:r>
              <a:t>• Deterministic Matcher: Strictly flags PostgreSQL as UNMET, preventing an unqualified candidate from passing must-have gating.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Multi-Factor Hybrid Scoring Model</a:t>
            </a:r>
          </a:p>
          <a:p>
            <a:pPr>
              <a:defRPr sz="1300">
                <a:solidFill>
                  <a:srgbClr val="94A3B8"/>
                </a:solidFill>
              </a:defRPr>
            </a:pPr>
            <a:r>
              <a:t>Mathematical orthogonal fusion with dynamic weight renormalization</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09 / 15</a:t>
            </a:r>
          </a:p>
        </p:txBody>
      </p:sp>
      <p:sp>
        <p:nvSpPr>
          <p:cNvPr id="5" name="Rounded Rectangle 4"/>
          <p:cNvSpPr/>
          <p:nvPr/>
        </p:nvSpPr>
        <p:spPr>
          <a:xfrm>
            <a:off x="731520"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Separation of Experience (Invariants A–D)</a:t>
            </a:r>
          </a:p>
          <a:p>
            <a:pPr>
              <a:spcBef>
                <a:spcPts val="400"/>
              </a:spcBef>
              <a:defRPr sz="1100">
                <a:solidFill>
                  <a:srgbClr val="F8FAFC"/>
                </a:solidFill>
              </a:defRPr>
            </a:pPr>
            <a:r>
              <a:t>• General career tenure is strictly excluded from Rule Fit and Semantic Fit.</a:t>
            </a:r>
          </a:p>
          <a:p>
            <a:pPr>
              <a:spcBef>
                <a:spcPts val="400"/>
              </a:spcBef>
              <a:defRPr sz="1100">
                <a:solidFill>
                  <a:srgbClr val="F8FAFC"/>
                </a:solidFill>
              </a:defRPr>
            </a:pPr>
            <a:r>
              <a:t>• Completely eliminates double-counting of experience across scoring components.</a:t>
            </a:r>
          </a:p>
          <a:p>
            <a:pPr>
              <a:spcBef>
                <a:spcPts val="400"/>
              </a:spcBef>
              <a:defRPr sz="1100">
                <a:solidFill>
                  <a:srgbClr val="F8FAFC"/>
                </a:solidFill>
              </a:defRPr>
            </a:pPr>
            <a:r>
              <a:t>• Changing candidate tenure modifies Experience Fit only; other scores remain constant.</a:t>
            </a:r>
          </a:p>
        </p:txBody>
      </p:sp>
      <p:sp>
        <p:nvSpPr>
          <p:cNvPr id="6" name="Rounded Rectangle 5"/>
          <p:cNvSpPr/>
          <p:nvPr/>
        </p:nvSpPr>
        <p:spPr>
          <a:xfrm>
            <a:off x="6336792"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Dynamic Renormalization (Invariant E)</a:t>
            </a:r>
          </a:p>
          <a:p>
            <a:pPr>
              <a:spcBef>
                <a:spcPts val="400"/>
              </a:spcBef>
              <a:defRPr sz="1100">
                <a:solidFill>
                  <a:srgbClr val="F8FAFC"/>
                </a:solidFill>
              </a:defRPr>
            </a:pPr>
            <a:r>
              <a:t>• If an optional component (such as LLM Fit) is disabled or unavailable, active weights scale dynamically.</a:t>
            </a:r>
          </a:p>
          <a:p>
            <a:pPr>
              <a:spcBef>
                <a:spcPts val="400"/>
              </a:spcBef>
              <a:defRPr sz="1100">
                <a:solidFill>
                  <a:srgbClr val="F8FAFC"/>
                </a:solidFill>
              </a:defRPr>
            </a:pPr>
            <a:r>
              <a:t>• Active weights are guaranteed to sum exactly to 1.0 under all operational configurations.</a:t>
            </a:r>
          </a:p>
          <a:p>
            <a:pPr>
              <a:spcBef>
                <a:spcPts val="400"/>
              </a:spcBef>
              <a:defRPr sz="1100">
                <a:solidFill>
                  <a:srgbClr val="F8FAFC"/>
                </a:solidFill>
              </a:defRPr>
            </a:pPr>
            <a:r>
              <a:t>• Candidate fit score is 100% reproducible down to four decimal places.</a:t>
            </a:r>
          </a:p>
        </p:txBody>
      </p:sp>
      <p:sp>
        <p:nvSpPr>
          <p:cNvPr id="7" name="Rounded Rectangle 6"/>
          <p:cNvSpPr/>
          <p:nvPr/>
        </p:nvSpPr>
        <p:spPr>
          <a:xfrm>
            <a:off x="731520" y="5760720"/>
            <a:ext cx="10725912" cy="640080"/>
          </a:xfrm>
          <a:prstGeom prst="roundRect">
            <a:avLst/>
          </a:prstGeom>
          <a:solidFill>
            <a:srgbClr val="141C2D"/>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100">
                <a:solidFill>
                  <a:srgbClr val="E0E7FF"/>
                </a:solidFill>
              </a:defRPr>
            </a:pPr>
            <a:r>
              <a:t>📌 Note: Configured engineering prototype weights; not industry-optimal claims. The score does not predict hiring success.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Skill-Gap Auditing &amp; LLM Guardrails</a:t>
            </a:r>
          </a:p>
          <a:p>
            <a:pPr>
              <a:defRPr sz="1300">
                <a:solidFill>
                  <a:srgbClr val="94A3B8"/>
                </a:solidFill>
              </a:defRPr>
            </a:pPr>
            <a:r>
              <a:t>Actionable candidate feedback paired with strict responsible-AI boundaries</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10 / 15</a:t>
            </a:r>
          </a:p>
        </p:txBody>
      </p:sp>
      <p:sp>
        <p:nvSpPr>
          <p:cNvPr id="5" name="Rounded Rectangle 4"/>
          <p:cNvSpPr/>
          <p:nvPr/>
        </p:nvSpPr>
        <p:spPr>
          <a:xfrm>
            <a:off x="731520"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1. Skill-Gap Auditing Dimensions</a:t>
            </a:r>
          </a:p>
          <a:p>
            <a:pPr>
              <a:spcBef>
                <a:spcPts val="400"/>
              </a:spcBef>
              <a:defRPr sz="1100">
                <a:solidFill>
                  <a:srgbClr val="F8FAFC"/>
                </a:solidFill>
              </a:defRPr>
            </a:pPr>
            <a:r>
              <a:t>• Satisfied: Requirement met; anchored to verbatim resume sentence quote.</a:t>
            </a:r>
          </a:p>
          <a:p>
            <a:pPr>
              <a:spcBef>
                <a:spcPts val="400"/>
              </a:spcBef>
              <a:defRPr sz="1100">
                <a:solidFill>
                  <a:srgbClr val="F8FAFC"/>
                </a:solidFill>
              </a:defRPr>
            </a:pPr>
            <a:r>
              <a:t>• Insufficient: Skill present, but candidate lacks required depth, version, or tenure.</a:t>
            </a:r>
          </a:p>
          <a:p>
            <a:pPr>
              <a:spcBef>
                <a:spcPts val="400"/>
              </a:spcBef>
              <a:defRPr sz="1100">
                <a:solidFill>
                  <a:srgbClr val="F8FAFC"/>
                </a:solidFill>
              </a:defRPr>
            </a:pPr>
            <a:r>
              <a:t>• Missing: Required skill completely absent from candidate profile text.</a:t>
            </a:r>
          </a:p>
          <a:p>
            <a:pPr>
              <a:spcBef>
                <a:spcPts val="400"/>
              </a:spcBef>
              <a:defRPr sz="1100">
                <a:solidFill>
                  <a:srgbClr val="F8FAFC"/>
                </a:solidFill>
              </a:defRPr>
            </a:pPr>
            <a:r>
              <a:t>• Not Evaluable: Subjective traits (e.g. 'team player') reserved for human interviews.</a:t>
            </a:r>
          </a:p>
        </p:txBody>
      </p:sp>
      <p:sp>
        <p:nvSpPr>
          <p:cNvPr id="6" name="Rounded Rectangle 5"/>
          <p:cNvSpPr/>
          <p:nvPr/>
        </p:nvSpPr>
        <p:spPr>
          <a:xfrm>
            <a:off x="6336792"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2. Constrained LLM Guardrails</a:t>
            </a:r>
          </a:p>
          <a:p>
            <a:pPr>
              <a:spcBef>
                <a:spcPts val="400"/>
              </a:spcBef>
              <a:defRPr sz="1100">
                <a:solidFill>
                  <a:srgbClr val="F8FAFC"/>
                </a:solidFill>
              </a:defRPr>
            </a:pPr>
            <a:r>
              <a:t>• Evidence Grounding: LLM prompt receives only verified facts from upstream matching.</a:t>
            </a:r>
          </a:p>
          <a:p>
            <a:pPr>
              <a:spcBef>
                <a:spcPts val="400"/>
              </a:spcBef>
              <a:defRPr sz="1100">
                <a:solidFill>
                  <a:srgbClr val="F8FAFC"/>
                </a:solidFill>
              </a:defRPr>
            </a:pPr>
            <a:r>
              <a:t>• Zero Automated Verdicts: Strictly prohibited from stating 'Hire', 'Reject', or 'Accept'.</a:t>
            </a:r>
          </a:p>
          <a:p>
            <a:pPr>
              <a:spcBef>
                <a:spcPts val="400"/>
              </a:spcBef>
              <a:defRPr sz="1100">
                <a:solidFill>
                  <a:srgbClr val="F8FAFC"/>
                </a:solidFill>
              </a:defRPr>
            </a:pPr>
            <a:r>
              <a:t>• Anti-Speculation: Cannot extrapolate unmentioned skills (e.g. Django from Python).</a:t>
            </a:r>
          </a:p>
          <a:p>
            <a:pPr>
              <a:spcBef>
                <a:spcPts val="400"/>
              </a:spcBef>
              <a:defRPr sz="1100">
                <a:solidFill>
                  <a:srgbClr val="F8FAFC"/>
                </a:solidFill>
              </a:defRPr>
            </a:pPr>
            <a:r>
              <a:t>• Score Immutability: LLM has zero power to alter upstream computed scores.</a:t>
            </a:r>
          </a:p>
        </p:txBody>
      </p:sp>
      <p:sp>
        <p:nvSpPr>
          <p:cNvPr id="7" name="Rounded Rectangle 6"/>
          <p:cNvSpPr/>
          <p:nvPr/>
        </p:nvSpPr>
        <p:spPr>
          <a:xfrm>
            <a:off x="731520" y="5760720"/>
            <a:ext cx="10725912" cy="640080"/>
          </a:xfrm>
          <a:prstGeom prst="roundRect">
            <a:avLst/>
          </a:prstGeom>
          <a:solidFill>
            <a:srgbClr val="2D141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100">
                <a:solidFill>
                  <a:srgbClr val="E0E7FF"/>
                </a:solidFill>
              </a:defRPr>
            </a:pPr>
            <a:r>
              <a:t>⚠️ Mandatory Disclaimer: P_101 is an automated screening assistant designed to aid human recruiters. Matching scores and LLM recommendations do not constitute hiring or rejection decisions.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Recruiter Web Dashboard &amp; Interface</a:t>
            </a:r>
          </a:p>
          <a:p>
            <a:pPr>
              <a:defRPr sz="1300">
                <a:solidFill>
                  <a:srgbClr val="94A3B8"/>
                </a:solidFill>
              </a:defRPr>
            </a:pPr>
            <a:r>
              <a:t>Interactive Next.js 16 / React 19 workspace presenting audit trails and evidence</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11 / 15</a:t>
            </a:r>
          </a:p>
        </p:txBody>
      </p:sp>
      <p:sp>
        <p:nvSpPr>
          <p:cNvPr id="5" name="Rounded Rectangle 4"/>
          <p:cNvSpPr/>
          <p:nvPr/>
        </p:nvSpPr>
        <p:spPr>
          <a:xfrm>
            <a:off x="731520" y="1645920"/>
            <a:ext cx="5120640" cy="16459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300">
                <a:solidFill>
                  <a:srgbClr val="818CF8"/>
                </a:solidFill>
              </a:defRPr>
            </a:pPr>
            <a:r>
              <a:t>📊 1. Overall Score &amp; Gating Badge</a:t>
            </a:r>
          </a:p>
          <a:p>
            <a:pPr>
              <a:spcBef>
                <a:spcPts val="400"/>
              </a:spcBef>
              <a:defRPr sz="1100">
                <a:solidFill>
                  <a:srgbClr val="F8FAFC"/>
                </a:solidFill>
              </a:defRPr>
            </a:pPr>
            <a:r>
              <a:t>Prominent numerical percentage (e.g. 84.1%) paired with high-visibility gating badge: Must-Haves Met (Green) or Must-Haves Missing (Red with AlertTriangle).</a:t>
            </a:r>
          </a:p>
        </p:txBody>
      </p:sp>
      <p:sp>
        <p:nvSpPr>
          <p:cNvPr id="6" name="Rounded Rectangle 5"/>
          <p:cNvSpPr/>
          <p:nvPr/>
        </p:nvSpPr>
        <p:spPr>
          <a:xfrm>
            <a:off x="6336792" y="1645920"/>
            <a:ext cx="5120640" cy="16459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300">
                <a:solidFill>
                  <a:srgbClr val="818CF8"/>
                </a:solidFill>
              </a:defRPr>
            </a:pPr>
            <a:r>
              <a:t>🧩 2. Score Breakdown Grid</a:t>
            </a:r>
          </a:p>
          <a:p>
            <a:pPr>
              <a:spcBef>
                <a:spcPts val="400"/>
              </a:spcBef>
              <a:defRPr sz="1100">
                <a:solidFill>
                  <a:srgbClr val="F8FAFC"/>
                </a:solidFill>
              </a:defRPr>
            </a:pPr>
            <a:r>
              <a:t>4-quadrant display showing Rule Fit, Semantic Fit, Experience Fit, and Education Fit independently, ensuring recruiters understand every sub-factor.</a:t>
            </a:r>
          </a:p>
        </p:txBody>
      </p:sp>
      <p:sp>
        <p:nvSpPr>
          <p:cNvPr id="7" name="Rounded Rectangle 6"/>
          <p:cNvSpPr/>
          <p:nvPr/>
        </p:nvSpPr>
        <p:spPr>
          <a:xfrm>
            <a:off x="731520" y="3566160"/>
            <a:ext cx="5120640" cy="16459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300">
                <a:solidFill>
                  <a:srgbClr val="818CF8"/>
                </a:solidFill>
              </a:defRPr>
            </a:pPr>
            <a:r>
              <a:t>📋 3. Requirement Coverage Table</a:t>
            </a:r>
          </a:p>
          <a:p>
            <a:pPr>
              <a:spcBef>
                <a:spcPts val="400"/>
              </a:spcBef>
              <a:defRPr sz="1100">
                <a:solidFill>
                  <a:srgbClr val="F8FAFC"/>
                </a:solidFill>
              </a:defRPr>
            </a:pPr>
            <a:r>
              <a:t>Tabular audit of all requirements with priority (Must vs Nice), match status, confidence score, and an expandable Show Snippet button citing exact resume sentences.</a:t>
            </a:r>
          </a:p>
        </p:txBody>
      </p:sp>
      <p:sp>
        <p:nvSpPr>
          <p:cNvPr id="8" name="Rounded Rectangle 7"/>
          <p:cNvSpPr/>
          <p:nvPr/>
        </p:nvSpPr>
        <p:spPr>
          <a:xfrm>
            <a:off x="6336792" y="3566160"/>
            <a:ext cx="5120640" cy="16459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b="1" sz="1300">
                <a:solidFill>
                  <a:srgbClr val="818CF8"/>
                </a:solidFill>
              </a:defRPr>
            </a:pPr>
            <a:r>
              <a:t>📝 4. Gaps &amp; Grounded Briefing</a:t>
            </a:r>
          </a:p>
          <a:p>
            <a:pPr>
              <a:spcBef>
                <a:spcPts val="400"/>
              </a:spcBef>
              <a:defRPr sz="1100">
                <a:solidFill>
                  <a:srgbClr val="F8FAFC"/>
                </a:solidFill>
              </a:defRPr>
            </a:pPr>
            <a:r>
              <a:t>Dual panels displaying classified skill gaps alongside the LLM Executive Briefing and targeted candidate learning recommendations.</a:t>
            </a:r>
          </a:p>
        </p:txBody>
      </p:sp>
      <p:sp>
        <p:nvSpPr>
          <p:cNvPr id="9" name="Rounded Rectangle 8"/>
          <p:cNvSpPr/>
          <p:nvPr/>
        </p:nvSpPr>
        <p:spPr>
          <a:xfrm>
            <a:off x="731520" y="5760720"/>
            <a:ext cx="10725912" cy="640080"/>
          </a:xfrm>
          <a:prstGeom prst="roundRect">
            <a:avLst/>
          </a:prstGeom>
          <a:solidFill>
            <a:srgbClr val="141C2D"/>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100">
                <a:solidFill>
                  <a:srgbClr val="E0E7FF"/>
                </a:solidFill>
              </a:defRPr>
            </a:pPr>
            <a:r>
              <a:t>💻 Live Application URL: Running locally at http://localhost:3000 with complete client-side routing across /, /jobs, /jobs/new, and /analysis.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Engineering Validation &amp; Benchmark Results</a:t>
            </a:r>
          </a:p>
          <a:p>
            <a:pPr>
              <a:defRPr sz="1300">
                <a:solidFill>
                  <a:srgbClr val="94A3B8"/>
                </a:solidFill>
              </a:defRPr>
            </a:pPr>
            <a:r>
              <a:t>Phase 12 quantitative metrics across 189 total passing regression tests</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12 / 15</a:t>
            </a:r>
          </a:p>
        </p:txBody>
      </p:sp>
      <p:sp>
        <p:nvSpPr>
          <p:cNvPr id="5" name="Rounded Rectangle 4"/>
          <p:cNvSpPr/>
          <p:nvPr/>
        </p:nvSpPr>
        <p:spPr>
          <a:xfrm>
            <a:off x="731520" y="1645920"/>
            <a:ext cx="2468880" cy="164592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2800">
                <a:solidFill>
                  <a:srgbClr val="10B981"/>
                </a:solidFill>
              </a:defRPr>
            </a:pPr>
            <a:r>
              <a:t>10 / 10</a:t>
            </a:r>
          </a:p>
          <a:p>
            <a:pPr algn="ctr">
              <a:defRPr b="1" sz="1200">
                <a:solidFill>
                  <a:srgbClr val="818CF8"/>
                </a:solidFill>
              </a:defRPr>
            </a:pPr>
            <a:r>
              <a:t>Curated Cases</a:t>
            </a:r>
          </a:p>
          <a:p>
            <a:pPr algn="ctr">
              <a:spcBef>
                <a:spcPts val="400"/>
              </a:spcBef>
              <a:defRPr sz="1000">
                <a:solidFill>
                  <a:srgbClr val="94A3B8"/>
                </a:solidFill>
              </a:defRPr>
            </a:pPr>
            <a:r>
              <a:t>100% Passed ground truth across 10 distinct candidate archetypes</a:t>
            </a:r>
          </a:p>
        </p:txBody>
      </p:sp>
      <p:sp>
        <p:nvSpPr>
          <p:cNvPr id="6" name="Rounded Rectangle 5"/>
          <p:cNvSpPr/>
          <p:nvPr/>
        </p:nvSpPr>
        <p:spPr>
          <a:xfrm>
            <a:off x="3483863" y="1645920"/>
            <a:ext cx="2468880" cy="164592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2800">
                <a:solidFill>
                  <a:srgbClr val="10B981"/>
                </a:solidFill>
              </a:defRPr>
            </a:pPr>
            <a:r>
              <a:t>6 / 6</a:t>
            </a:r>
          </a:p>
          <a:p>
            <a:pPr algn="ctr">
              <a:defRPr b="1" sz="1200">
                <a:solidFill>
                  <a:srgbClr val="818CF8"/>
                </a:solidFill>
              </a:defRPr>
            </a:pPr>
            <a:r>
              <a:t>Scoring Invariants</a:t>
            </a:r>
          </a:p>
          <a:p>
            <a:pPr algn="ctr">
              <a:spcBef>
                <a:spcPts val="400"/>
              </a:spcBef>
              <a:defRPr sz="1000">
                <a:solidFill>
                  <a:srgbClr val="94A3B8"/>
                </a:solidFill>
              </a:defRPr>
            </a:pPr>
            <a:r>
              <a:t>100% Compliance verifying tenure independence &amp; weight sum = 1.0</a:t>
            </a:r>
          </a:p>
        </p:txBody>
      </p:sp>
      <p:sp>
        <p:nvSpPr>
          <p:cNvPr id="7" name="Rounded Rectangle 6"/>
          <p:cNvSpPr/>
          <p:nvPr/>
        </p:nvSpPr>
        <p:spPr>
          <a:xfrm>
            <a:off x="6236207" y="1645920"/>
            <a:ext cx="2468880" cy="164592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2800">
                <a:solidFill>
                  <a:srgbClr val="10B981"/>
                </a:solidFill>
              </a:defRPr>
            </a:pPr>
            <a:r>
              <a:t>7 / 7</a:t>
            </a:r>
          </a:p>
          <a:p>
            <a:pPr algn="ctr">
              <a:defRPr b="1" sz="1200">
                <a:solidFill>
                  <a:srgbClr val="818CF8"/>
                </a:solidFill>
              </a:defRPr>
            </a:pPr>
            <a:r>
              <a:t>API Smoke Tests</a:t>
            </a:r>
          </a:p>
          <a:p>
            <a:pPr algn="ctr">
              <a:spcBef>
                <a:spcPts val="400"/>
              </a:spcBef>
              <a:defRPr sz="1000">
                <a:solidFill>
                  <a:srgbClr val="94A3B8"/>
                </a:solidFill>
              </a:defRPr>
            </a:pPr>
            <a:r>
              <a:t>100% Operational endpoints across all /api/v1 REST services</a:t>
            </a:r>
          </a:p>
        </p:txBody>
      </p:sp>
      <p:sp>
        <p:nvSpPr>
          <p:cNvPr id="8" name="Rounded Rectangle 7"/>
          <p:cNvSpPr/>
          <p:nvPr/>
        </p:nvSpPr>
        <p:spPr>
          <a:xfrm>
            <a:off x="8988552" y="1645920"/>
            <a:ext cx="2468880" cy="1645920"/>
          </a:xfrm>
          <a:prstGeom prst="roundRect">
            <a:avLst/>
          </a:prstGeom>
          <a:solidFill>
            <a:srgbClr val="1E293B"/>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137160" tIns="137160"/>
          <a:lstStyle/>
          <a:p>
            <a:pPr algn="ctr">
              <a:defRPr b="1" sz="2800">
                <a:solidFill>
                  <a:srgbClr val="10B981"/>
                </a:solidFill>
              </a:defRPr>
            </a:pPr>
            <a:r>
              <a:t>189</a:t>
            </a:r>
          </a:p>
          <a:p>
            <a:pPr algn="ctr">
              <a:defRPr b="1" sz="1200">
                <a:solidFill>
                  <a:srgbClr val="818CF8"/>
                </a:solidFill>
              </a:defRPr>
            </a:pPr>
            <a:r>
              <a:t>Total Tests Passed</a:t>
            </a:r>
          </a:p>
          <a:p>
            <a:pPr algn="ctr">
              <a:spcBef>
                <a:spcPts val="400"/>
              </a:spcBef>
              <a:defRPr sz="1000">
                <a:solidFill>
                  <a:srgbClr val="94A3B8"/>
                </a:solidFill>
              </a:defRPr>
            </a:pPr>
            <a:r>
              <a:t>168 Backend (pytest) + 21 Frontend (Vitest) with 100% clean exit codes</a:t>
            </a:r>
          </a:p>
        </p:txBody>
      </p:sp>
      <p:sp>
        <p:nvSpPr>
          <p:cNvPr id="9" name="Rounded Rectangle 8"/>
          <p:cNvSpPr/>
          <p:nvPr/>
        </p:nvSpPr>
        <p:spPr>
          <a:xfrm>
            <a:off x="731520" y="3474720"/>
            <a:ext cx="246888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b="1" sz="2200">
                <a:solidFill>
                  <a:srgbClr val="F8FAFC"/>
                </a:solidFill>
              </a:defRPr>
            </a:pPr>
            <a:r>
              <a:t>100%</a:t>
            </a:r>
          </a:p>
          <a:p>
            <a:pPr algn="ctr">
              <a:spcBef>
                <a:spcPts val="300"/>
              </a:spcBef>
              <a:defRPr sz="1000">
                <a:solidFill>
                  <a:srgbClr val="94A3B8"/>
                </a:solidFill>
              </a:defRPr>
            </a:pPr>
            <a:r>
              <a:t>LLM Grounding Rate</a:t>
            </a:r>
          </a:p>
        </p:txBody>
      </p:sp>
      <p:sp>
        <p:nvSpPr>
          <p:cNvPr id="10" name="Rounded Rectangle 9"/>
          <p:cNvSpPr/>
          <p:nvPr/>
        </p:nvSpPr>
        <p:spPr>
          <a:xfrm>
            <a:off x="3483863" y="3474720"/>
            <a:ext cx="246888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b="1" sz="2200">
                <a:solidFill>
                  <a:srgbClr val="F8FAFC"/>
                </a:solidFill>
              </a:defRPr>
            </a:pPr>
            <a:r>
              <a:t>0</a:t>
            </a:r>
          </a:p>
          <a:p>
            <a:pPr algn="ctr">
              <a:spcBef>
                <a:spcPts val="300"/>
              </a:spcBef>
              <a:defRPr sz="1000">
                <a:solidFill>
                  <a:srgbClr val="94A3B8"/>
                </a:solidFill>
              </a:defRPr>
            </a:pPr>
            <a:r>
              <a:t>Hallucinated Credentials</a:t>
            </a:r>
          </a:p>
        </p:txBody>
      </p:sp>
      <p:sp>
        <p:nvSpPr>
          <p:cNvPr id="11" name="Rounded Rectangle 10"/>
          <p:cNvSpPr/>
          <p:nvPr/>
        </p:nvSpPr>
        <p:spPr>
          <a:xfrm>
            <a:off x="6236207" y="3474720"/>
            <a:ext cx="246888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b="1" sz="2200">
                <a:solidFill>
                  <a:srgbClr val="F8FAFC"/>
                </a:solidFill>
              </a:defRPr>
            </a:pPr>
            <a:r>
              <a:t>0</a:t>
            </a:r>
          </a:p>
          <a:p>
            <a:pPr algn="ctr">
              <a:spcBef>
                <a:spcPts val="300"/>
              </a:spcBef>
              <a:defRPr sz="1000">
                <a:solidFill>
                  <a:srgbClr val="94A3B8"/>
                </a:solidFill>
              </a:defRPr>
            </a:pPr>
            <a:r>
              <a:t>Automated Hiring Verdicts</a:t>
            </a:r>
          </a:p>
        </p:txBody>
      </p:sp>
      <p:sp>
        <p:nvSpPr>
          <p:cNvPr id="12" name="Rounded Rectangle 11"/>
          <p:cNvSpPr/>
          <p:nvPr/>
        </p:nvSpPr>
        <p:spPr>
          <a:xfrm>
            <a:off x="8988552" y="3474720"/>
            <a:ext cx="2468880" cy="12801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b="1" sz="2200">
                <a:solidFill>
                  <a:srgbClr val="F8FAFC"/>
                </a:solidFill>
              </a:defRPr>
            </a:pPr>
            <a:r>
              <a:t>72.65 ms</a:t>
            </a:r>
          </a:p>
          <a:p>
            <a:pPr algn="ctr">
              <a:spcBef>
                <a:spcPts val="300"/>
              </a:spcBef>
              <a:defRPr sz="1000">
                <a:solidFill>
                  <a:srgbClr val="94A3B8"/>
                </a:solidFill>
              </a:defRPr>
            </a:pPr>
            <a:r>
              <a:t>Median Pipeline Latency</a:t>
            </a:r>
          </a:p>
        </p:txBody>
      </p:sp>
      <p:sp>
        <p:nvSpPr>
          <p:cNvPr id="13" name="Rounded Rectangle 12"/>
          <p:cNvSpPr/>
          <p:nvPr/>
        </p:nvSpPr>
        <p:spPr>
          <a:xfrm>
            <a:off x="731520" y="5760720"/>
            <a:ext cx="10725912" cy="640080"/>
          </a:xfrm>
          <a:prstGeom prst="roundRect">
            <a:avLst/>
          </a:prstGeom>
          <a:solidFill>
            <a:srgbClr val="141C2D"/>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100">
                <a:solidFill>
                  <a:srgbClr val="E0E7FF"/>
                </a:solidFill>
              </a:defRPr>
            </a:pPr>
            <a:r>
              <a:t>⚡ Performance Telemetry: Document Parsing: 12.3ms | Profile Extraction: 43.7ms | Rule Match: 10.8ms | Scoring: 0.2ms | End-to-End Latency: 72.65ms (Median) / 130.8ms (p95) on CPU.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Live Demonstration Scenarios &amp; Workflow</a:t>
            </a:r>
          </a:p>
          <a:p>
            <a:pPr>
              <a:defRPr sz="1300">
                <a:solidFill>
                  <a:srgbClr val="94A3B8"/>
                </a:solidFill>
              </a:defRPr>
            </a:pPr>
            <a:r>
              <a:t>5–6.5 minute live presentation script validating three diverse candidate archetypes</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13 / 15</a:t>
            </a:r>
          </a:p>
        </p:txBody>
      </p:sp>
      <p:graphicFrame>
        <p:nvGraphicFramePr>
          <p:cNvPr id="5" name="Table 4"/>
          <p:cNvGraphicFramePr>
            <a:graphicFrameLocks noGrp="1"/>
          </p:cNvGraphicFramePr>
          <p:nvPr/>
        </p:nvGraphicFramePr>
        <p:xfrm>
          <a:off x="731520" y="1645920"/>
          <a:ext cx="10725912" cy="3840480"/>
        </p:xfrm>
        <a:graphic>
          <a:graphicData uri="http://schemas.openxmlformats.org/drawingml/2006/table">
            <a:tbl>
              <a:tblPr firstRow="1" bandRow="1">
                <a:tableStyleId>{5C22544A-7EE6-4342-B048-85BDC9FD1C3A}</a:tableStyleId>
              </a:tblPr>
              <a:tblGrid>
                <a:gridCol w="2681478"/>
                <a:gridCol w="2681478"/>
                <a:gridCol w="2681478"/>
                <a:gridCol w="2681478"/>
              </a:tblGrid>
              <a:tr h="768096">
                <a:tc>
                  <a:txBody>
                    <a:bodyPr/>
                    <a:lstStyle/>
                    <a:p>
                      <a:pPr>
                        <a:defRPr sz="1100" b="1">
                          <a:solidFill>
                            <a:srgbClr val="F8FAFC"/>
                          </a:solidFill>
                        </a:defRPr>
                      </a:pPr>
                      <a:r>
                        <a:t>Demonstration Step</a:t>
                      </a:r>
                    </a:p>
                  </a:txBody>
                  <a:tcPr>
                    <a:solidFill>
                      <a:srgbClr val="1A2234"/>
                    </a:solidFill>
                  </a:tcPr>
                </a:tc>
                <a:tc>
                  <a:txBody>
                    <a:bodyPr/>
                    <a:lstStyle/>
                    <a:p>
                      <a:pPr>
                        <a:defRPr sz="1100" b="1">
                          <a:solidFill>
                            <a:srgbClr val="F8FAFC"/>
                          </a:solidFill>
                        </a:defRPr>
                      </a:pPr>
                      <a:r>
                        <a:t>Document Input</a:t>
                      </a:r>
                    </a:p>
                  </a:txBody>
                  <a:tcPr>
                    <a:solidFill>
                      <a:srgbClr val="1A2234"/>
                    </a:solidFill>
                  </a:tcPr>
                </a:tc>
                <a:tc>
                  <a:txBody>
                    <a:bodyPr/>
                    <a:lstStyle/>
                    <a:p>
                      <a:pPr>
                        <a:defRPr sz="1100" b="1">
                          <a:solidFill>
                            <a:srgbClr val="F8FAFC"/>
                          </a:solidFill>
                        </a:defRPr>
                      </a:pPr>
                      <a:r>
                        <a:t>Observed System Behavior</a:t>
                      </a:r>
                    </a:p>
                  </a:txBody>
                  <a:tcPr>
                    <a:solidFill>
                      <a:srgbClr val="1A2234"/>
                    </a:solidFill>
                  </a:tcPr>
                </a:tc>
                <a:tc>
                  <a:txBody>
                    <a:bodyPr/>
                    <a:lstStyle/>
                    <a:p>
                      <a:pPr>
                        <a:defRPr sz="1100" b="1">
                          <a:solidFill>
                            <a:srgbClr val="F8FAFC"/>
                          </a:solidFill>
                        </a:defRPr>
                      </a:pPr>
                      <a:r>
                        <a:t>Outcome &amp; Score</a:t>
                      </a:r>
                    </a:p>
                  </a:txBody>
                  <a:tcPr>
                    <a:solidFill>
                      <a:srgbClr val="1A2234"/>
                    </a:solidFill>
                  </a:tcPr>
                </a:tc>
              </a:tr>
              <a:tr h="768096">
                <a:tc>
                  <a:txBody>
                    <a:bodyPr/>
                    <a:lstStyle/>
                    <a:p>
                      <a:pPr>
                        <a:defRPr sz="1100" b="1">
                          <a:solidFill>
                            <a:srgbClr val="F8FAFC"/>
                          </a:solidFill>
                        </a:defRPr>
                      </a:pPr>
                      <a:r>
                        <a:t>Step 1: Job Setup</a:t>
                      </a:r>
                    </a:p>
                  </a:txBody>
                  <a:tcPr>
                    <a:solidFill>
                      <a:srgbClr val="1E293B"/>
                    </a:solidFill>
                  </a:tcPr>
                </a:tc>
                <a:tc>
                  <a:txBody>
                    <a:bodyPr/>
                    <a:lstStyle/>
                    <a:p>
                      <a:pPr>
                        <a:defRPr sz="1100">
                          <a:solidFill>
                            <a:srgbClr val="94A3B8"/>
                          </a:solidFill>
                        </a:defRPr>
                      </a:pPr>
                      <a:r>
                        <a:t>01_backend_engineer.pdf</a:t>
                      </a:r>
                    </a:p>
                  </a:txBody>
                  <a:tcPr>
                    <a:solidFill>
                      <a:srgbClr val="1E293B"/>
                    </a:solidFill>
                  </a:tcPr>
                </a:tc>
                <a:tc>
                  <a:txBody>
                    <a:bodyPr/>
                    <a:lstStyle/>
                    <a:p>
                      <a:pPr>
                        <a:defRPr sz="1100">
                          <a:solidFill>
                            <a:srgbClr val="94A3B8"/>
                          </a:solidFill>
                        </a:defRPr>
                      </a:pPr>
                      <a:r>
                        <a:t>Extracts 5 must-haves (Python, FastAPI, Postgres, Docker, Redis) &amp; 5.0 yr exp</a:t>
                      </a:r>
                    </a:p>
                  </a:txBody>
                  <a:tcPr>
                    <a:solidFill>
                      <a:srgbClr val="1E293B"/>
                    </a:solidFill>
                  </a:tcPr>
                </a:tc>
                <a:tc>
                  <a:txBody>
                    <a:bodyPr/>
                    <a:lstStyle/>
                    <a:p>
                      <a:pPr>
                        <a:defRPr sz="1100" b="1">
                          <a:solidFill>
                            <a:srgbClr val="10B981"/>
                          </a:solidFill>
                        </a:defRPr>
                      </a:pPr>
                      <a:r>
                        <a:t>Job Configured</a:t>
                      </a:r>
                    </a:p>
                  </a:txBody>
                  <a:tcPr>
                    <a:solidFill>
                      <a:srgbClr val="1E293B"/>
                    </a:solidFill>
                  </a:tcPr>
                </a:tc>
              </a:tr>
              <a:tr h="768096">
                <a:tc>
                  <a:txBody>
                    <a:bodyPr/>
                    <a:lstStyle/>
                    <a:p>
                      <a:pPr>
                        <a:defRPr sz="1100" b="1">
                          <a:solidFill>
                            <a:srgbClr val="F8FAFC"/>
                          </a:solidFill>
                        </a:defRPr>
                      </a:pPr>
                      <a:r>
                        <a:t>Scenario A: Strong Match</a:t>
                      </a:r>
                    </a:p>
                  </a:txBody>
                  <a:tcPr>
                    <a:solidFill>
                      <a:srgbClr val="1E293B"/>
                    </a:solidFill>
                  </a:tcPr>
                </a:tc>
                <a:tc>
                  <a:txBody>
                    <a:bodyPr/>
                    <a:lstStyle/>
                    <a:p>
                      <a:pPr>
                        <a:defRPr sz="1100">
                          <a:solidFill>
                            <a:srgbClr val="94A3B8"/>
                          </a:solidFill>
                        </a:defRPr>
                      </a:pPr>
                      <a:r>
                        <a:t>Alex Morgan (01_strong_backend.pdf)</a:t>
                      </a:r>
                    </a:p>
                  </a:txBody>
                  <a:tcPr>
                    <a:solidFill>
                      <a:srgbClr val="1E293B"/>
                    </a:solidFill>
                  </a:tcPr>
                </a:tc>
                <a:tc>
                  <a:txBody>
                    <a:bodyPr/>
                    <a:lstStyle/>
                    <a:p>
                      <a:pPr>
                        <a:defRPr sz="1100">
                          <a:solidFill>
                            <a:srgbClr val="94A3B8"/>
                          </a:solidFill>
                        </a:defRPr>
                      </a:pPr>
                      <a:r>
                        <a:t>Meets all 5 mandatory skills; 6.2 years experience; exact citations</a:t>
                      </a:r>
                    </a:p>
                  </a:txBody>
                  <a:tcPr>
                    <a:solidFill>
                      <a:srgbClr val="1E293B"/>
                    </a:solidFill>
                  </a:tcPr>
                </a:tc>
                <a:tc>
                  <a:txBody>
                    <a:bodyPr/>
                    <a:lstStyle/>
                    <a:p>
                      <a:pPr>
                        <a:defRPr sz="1100" b="1">
                          <a:solidFill>
                            <a:srgbClr val="10B981"/>
                          </a:solidFill>
                        </a:defRPr>
                      </a:pPr>
                      <a:r>
                        <a:t>84.1% (Must-Haves Met)</a:t>
                      </a:r>
                    </a:p>
                  </a:txBody>
                  <a:tcPr>
                    <a:solidFill>
                      <a:srgbClr val="1E293B"/>
                    </a:solidFill>
                  </a:tcPr>
                </a:tc>
              </a:tr>
              <a:tr h="768096">
                <a:tc>
                  <a:txBody>
                    <a:bodyPr/>
                    <a:lstStyle/>
                    <a:p>
                      <a:pPr>
                        <a:defRPr sz="1100" b="1">
                          <a:solidFill>
                            <a:srgbClr val="F8FAFC"/>
                          </a:solidFill>
                        </a:defRPr>
                      </a:pPr>
                      <a:r>
                        <a:t>Scenario B: Weak Match</a:t>
                      </a:r>
                    </a:p>
                  </a:txBody>
                  <a:tcPr>
                    <a:solidFill>
                      <a:srgbClr val="1E293B"/>
                    </a:solidFill>
                  </a:tcPr>
                </a:tc>
                <a:tc>
                  <a:txBody>
                    <a:bodyPr/>
                    <a:lstStyle/>
                    <a:p>
                      <a:pPr>
                        <a:defRPr sz="1100">
                          <a:solidFill>
                            <a:srgbClr val="94A3B8"/>
                          </a:solidFill>
                        </a:defRPr>
                      </a:pPr>
                      <a:r>
                        <a:t>Brian Miller (02_weak_backend.pdf)</a:t>
                      </a:r>
                    </a:p>
                  </a:txBody>
                  <a:tcPr>
                    <a:solidFill>
                      <a:srgbClr val="1E293B"/>
                    </a:solidFill>
                  </a:tcPr>
                </a:tc>
                <a:tc>
                  <a:txBody>
                    <a:bodyPr/>
                    <a:lstStyle/>
                    <a:p>
                      <a:pPr>
                        <a:defRPr sz="1100">
                          <a:solidFill>
                            <a:srgbClr val="94A3B8"/>
                          </a:solidFill>
                        </a:defRPr>
                      </a:pPr>
                      <a:r>
                        <a:t>Basic Python only; fails 4 must-haves; severe tenure deficit (0.6 yrs)</a:t>
                      </a:r>
                    </a:p>
                  </a:txBody>
                  <a:tcPr>
                    <a:solidFill>
                      <a:srgbClr val="1E293B"/>
                    </a:solidFill>
                  </a:tcPr>
                </a:tc>
                <a:tc>
                  <a:txBody>
                    <a:bodyPr/>
                    <a:lstStyle/>
                    <a:p>
                      <a:pPr>
                        <a:defRPr sz="1100" b="1">
                          <a:solidFill>
                            <a:srgbClr val="10B981"/>
                          </a:solidFill>
                        </a:defRPr>
                      </a:pPr>
                      <a:r>
                        <a:t>25.2% (Must-Haves Missing)</a:t>
                      </a:r>
                    </a:p>
                  </a:txBody>
                  <a:tcPr>
                    <a:solidFill>
                      <a:srgbClr val="1E293B"/>
                    </a:solidFill>
                  </a:tcPr>
                </a:tc>
              </a:tr>
              <a:tr h="768096">
                <a:tc>
                  <a:txBody>
                    <a:bodyPr/>
                    <a:lstStyle/>
                    <a:p>
                      <a:pPr>
                        <a:defRPr sz="1100" b="1">
                          <a:solidFill>
                            <a:srgbClr val="F8FAFC"/>
                          </a:solidFill>
                        </a:defRPr>
                      </a:pPr>
                      <a:r>
                        <a:t>Scenario C: Semantic Contrast</a:t>
                      </a:r>
                    </a:p>
                  </a:txBody>
                  <a:tcPr>
                    <a:solidFill>
                      <a:srgbClr val="1E293B"/>
                    </a:solidFill>
                  </a:tcPr>
                </a:tc>
                <a:tc>
                  <a:txBody>
                    <a:bodyPr/>
                    <a:lstStyle/>
                    <a:p>
                      <a:pPr>
                        <a:defRPr sz="1100">
                          <a:solidFill>
                            <a:srgbClr val="94A3B8"/>
                          </a:solidFill>
                        </a:defRPr>
                      </a:pPr>
                      <a:r>
                        <a:t>Hector Vance (08_related_skills.pdf)</a:t>
                      </a:r>
                    </a:p>
                  </a:txBody>
                  <a:tcPr>
                    <a:solidFill>
                      <a:srgbClr val="1E293B"/>
                    </a:solidFill>
                  </a:tcPr>
                </a:tc>
                <a:tc>
                  <a:txBody>
                    <a:bodyPr/>
                    <a:lstStyle/>
                    <a:p>
                      <a:pPr>
                        <a:defRPr sz="1100">
                          <a:solidFill>
                            <a:srgbClr val="94A3B8"/>
                          </a:solidFill>
                        </a:defRPr>
                      </a:pPr>
                      <a:r>
                        <a:t>High semantic fit (55.1% for Flask/MySQL); Deterministic holds line: Unmet</a:t>
                      </a:r>
                    </a:p>
                  </a:txBody>
                  <a:tcPr>
                    <a:solidFill>
                      <a:srgbClr val="1E293B"/>
                    </a:solidFill>
                  </a:tcPr>
                </a:tc>
                <a:tc>
                  <a:txBody>
                    <a:bodyPr/>
                    <a:lstStyle/>
                    <a:p>
                      <a:pPr>
                        <a:defRPr sz="1100" b="1">
                          <a:solidFill>
                            <a:srgbClr val="10B981"/>
                          </a:solidFill>
                        </a:defRPr>
                      </a:pPr>
                      <a:r>
                        <a:t>52.1% (Must-Haves Missing)</a:t>
                      </a:r>
                    </a:p>
                  </a:txBody>
                  <a:tcPr>
                    <a:solidFill>
                      <a:srgbClr val="1E293B"/>
                    </a:solidFill>
                  </a:tcPr>
                </a:tc>
              </a:tr>
            </a:tbl>
          </a:graphicData>
        </a:graphic>
      </p:graphicFrame>
      <p:sp>
        <p:nvSpPr>
          <p:cNvPr id="6" name="Rounded Rectangle 5"/>
          <p:cNvSpPr/>
          <p:nvPr/>
        </p:nvSpPr>
        <p:spPr>
          <a:xfrm>
            <a:off x="731520" y="5760720"/>
            <a:ext cx="10725912" cy="640080"/>
          </a:xfrm>
          <a:prstGeom prst="roundRect">
            <a:avLst/>
          </a:prstGeom>
          <a:solidFill>
            <a:srgbClr val="141C2D"/>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tIns="109728" lIns="182880"/>
          <a:lstStyle/>
          <a:p>
            <a:pPr algn="ctr">
              <a:defRPr sz="1100">
                <a:solidFill>
                  <a:srgbClr val="E0E7FF"/>
                </a:solidFill>
              </a:defRPr>
            </a:pPr>
            <a:r>
              <a:t>🎬 Demonstration Handoff: Next, we switch to our running browser instance at http://localhost:3000 to execute this sequence live.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601200" cy="1005840"/>
          </a:xfrm>
          <a:prstGeom prst="rect">
            <a:avLst/>
          </a:prstGeom>
          <a:noFill/>
        </p:spPr>
        <p:txBody>
          <a:bodyPr wrap="square">
            <a:spAutoFit/>
          </a:bodyPr>
          <a:lstStyle/>
          <a:p>
            <a:pPr>
              <a:defRPr sz="2400" b="1">
                <a:solidFill>
                  <a:srgbClr val="F8FAFC"/>
                </a:solidFill>
              </a:defRPr>
            </a:pPr>
            <a:r>
              <a:t>System Limitations &amp; Future Engineering Scope</a:t>
            </a:r>
          </a:p>
          <a:p>
            <a:pPr>
              <a:defRPr sz="1300">
                <a:solidFill>
                  <a:srgbClr val="94A3B8"/>
                </a:solidFill>
              </a:defRPr>
            </a:pPr>
            <a:r>
              <a:t>Transparent academic acknowledgment of boundaries and roadmap enhancements</a:t>
            </a:r>
          </a:p>
        </p:txBody>
      </p:sp>
      <p:sp>
        <p:nvSpPr>
          <p:cNvPr id="4" name="TextBox 3"/>
          <p:cNvSpPr txBox="1"/>
          <p:nvPr/>
        </p:nvSpPr>
        <p:spPr>
          <a:xfrm>
            <a:off x="10515600" y="365760"/>
            <a:ext cx="1097280" cy="548640"/>
          </a:xfrm>
          <a:prstGeom prst="rect">
            <a:avLst/>
          </a:prstGeom>
          <a:noFill/>
        </p:spPr>
        <p:txBody>
          <a:bodyPr wrap="none">
            <a:spAutoFit/>
          </a:bodyPr>
          <a:lstStyle/>
          <a:p>
            <a:pPr algn="r">
              <a:defRPr sz="1300" b="1">
                <a:solidFill>
                  <a:srgbClr val="818CF8"/>
                </a:solidFill>
              </a:defRPr>
            </a:pPr>
            <a:r>
              <a:t>14 / 15</a:t>
            </a:r>
          </a:p>
        </p:txBody>
      </p:sp>
      <p:sp>
        <p:nvSpPr>
          <p:cNvPr id="5" name="Rounded Rectangle 4"/>
          <p:cNvSpPr/>
          <p:nvPr/>
        </p:nvSpPr>
        <p:spPr>
          <a:xfrm>
            <a:off x="731520"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Current Technical Limitations</a:t>
            </a:r>
          </a:p>
          <a:p>
            <a:pPr>
              <a:spcBef>
                <a:spcPts val="400"/>
              </a:spcBef>
              <a:defRPr sz="1100">
                <a:solidFill>
                  <a:srgbClr val="F8FAFC"/>
                </a:solidFill>
              </a:defRPr>
            </a:pPr>
            <a:r>
              <a:t>• CPU Cold-Start Latency: Initial PyTorch model load takes ~2s on first startup (sub-30ms warm).</a:t>
            </a:r>
          </a:p>
          <a:p>
            <a:pPr>
              <a:spcBef>
                <a:spcPts val="400"/>
              </a:spcBef>
              <a:defRPr sz="1100">
                <a:solidFill>
                  <a:srgbClr val="F8FAFC"/>
                </a:solidFill>
              </a:defRPr>
            </a:pPr>
            <a:r>
              <a:t>• Absence of Native OCR: Scanned image-only PDFs are rejected via 422 error; requires embedded text.</a:t>
            </a:r>
          </a:p>
          <a:p>
            <a:pPr>
              <a:spcBef>
                <a:spcPts val="400"/>
              </a:spcBef>
              <a:defRPr sz="1100">
                <a:solidFill>
                  <a:srgbClr val="F8FAFC"/>
                </a:solidFill>
              </a:defRPr>
            </a:pPr>
            <a:r>
              <a:t>• Taxonomy Boundaries: Emerging proprietary frameworks rely on semantics rather than aliases.</a:t>
            </a:r>
          </a:p>
          <a:p>
            <a:pPr>
              <a:spcBef>
                <a:spcPts val="400"/>
              </a:spcBef>
              <a:defRPr sz="1100">
                <a:solidFill>
                  <a:srgbClr val="F8FAFC"/>
                </a:solidFill>
              </a:defRPr>
            </a:pPr>
            <a:r>
              <a:t>• Single-Candidate Analysis: Workspace evaluates one candidate at a time; no comparative stack-ranking.</a:t>
            </a:r>
          </a:p>
          <a:p>
            <a:pPr>
              <a:spcBef>
                <a:spcPts val="400"/>
              </a:spcBef>
              <a:defRPr sz="1100">
                <a:solidFill>
                  <a:srgbClr val="F8FAFC"/>
                </a:solidFill>
              </a:defRPr>
            </a:pPr>
            <a:r>
              <a:t>• Synthetic Benchmarks: Synthetic evaluation data; does not establish real-world hiring efficacy.</a:t>
            </a:r>
          </a:p>
        </p:txBody>
      </p:sp>
      <p:sp>
        <p:nvSpPr>
          <p:cNvPr id="6" name="Rounded Rectangle 5"/>
          <p:cNvSpPr/>
          <p:nvPr/>
        </p:nvSpPr>
        <p:spPr>
          <a:xfrm>
            <a:off x="6336792" y="1645920"/>
            <a:ext cx="5120640" cy="329184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b="1" sz="1400">
                <a:solidFill>
                  <a:srgbClr val="818CF8"/>
                </a:solidFill>
              </a:defRPr>
            </a:pPr>
            <a:r>
              <a:t>🚀 Future Research Directions</a:t>
            </a:r>
          </a:p>
          <a:p>
            <a:pPr>
              <a:spcBef>
                <a:spcPts val="400"/>
              </a:spcBef>
              <a:defRPr sz="1100">
                <a:solidFill>
                  <a:srgbClr val="F8FAFC"/>
                </a:solidFill>
              </a:defRPr>
            </a:pPr>
            <a:r>
              <a:t>• Local OCR Pipeline: Integrate lightweight Tesseract / PaddleOCR to support scanned image PDFs.</a:t>
            </a:r>
          </a:p>
          <a:p>
            <a:pPr>
              <a:spcBef>
                <a:spcPts val="400"/>
              </a:spcBef>
              <a:defRPr sz="1100">
                <a:solidFill>
                  <a:srgbClr val="F8FAFC"/>
                </a:solidFill>
              </a:defRPr>
            </a:pPr>
            <a:r>
              <a:t>• Dynamic Ontology: Ingest public ESCO / O*NET skill graphs to expand alias mappings dynamically.</a:t>
            </a:r>
          </a:p>
          <a:p>
            <a:pPr>
              <a:spcBef>
                <a:spcPts val="400"/>
              </a:spcBef>
              <a:defRPr sz="1100">
                <a:solidFill>
                  <a:srgbClr val="F8FAFC"/>
                </a:solidFill>
              </a:defRPr>
            </a:pPr>
            <a:r>
              <a:t>• Recruiter Policy Sliders: Allow authenticated recruiters to configure scoring weights per role.</a:t>
            </a:r>
          </a:p>
          <a:p>
            <a:pPr>
              <a:spcBef>
                <a:spcPts val="400"/>
              </a:spcBef>
              <a:defRPr sz="1100">
                <a:solidFill>
                  <a:srgbClr val="F8FAFC"/>
                </a:solidFill>
              </a:defRPr>
            </a:pPr>
            <a:r>
              <a:t>• Consented Real-World Validation: Conduct IRB-approved empirical studies in active recruitment pipelines.</a:t>
            </a:r>
          </a:p>
          <a:p>
            <a:pPr>
              <a:spcBef>
                <a:spcPts val="400"/>
              </a:spcBef>
              <a:defRPr sz="1100">
                <a:solidFill>
                  <a:srgbClr val="F8FAFC"/>
                </a:solidFill>
              </a:defRPr>
            </a:pPr>
            <a:r>
              <a:t>• Asynchronous Batch Queue: Celery/Redis worker queue for bulk background resume processing.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1005840"/>
          </a:xfrm>
          <a:prstGeom prst="rect">
            <a:avLst/>
          </a:prstGeom>
          <a:noFill/>
        </p:spPr>
        <p:txBody>
          <a:bodyPr wrap="square">
            <a:spAutoFit/>
          </a:bodyPr>
          <a:lstStyle/>
          <a:p>
            <a:pPr>
              <a:defRPr sz="2800" b="1">
                <a:solidFill>
                  <a:srgbClr val="F8FAFC"/>
                </a:solidFill>
              </a:defRPr>
            </a:pPr>
            <a:r>
              <a:t>Conclusion &amp; Live Demo Handoff</a:t>
            </a:r>
          </a:p>
          <a:p>
            <a:pPr>
              <a:defRPr sz="1400">
                <a:solidFill>
                  <a:srgbClr val="94A3B8"/>
                </a:solidFill>
              </a:defRPr>
            </a:pPr>
            <a:r>
              <a:t>Summary of project achievements and invitation for technical discussion</a:t>
            </a:r>
          </a:p>
        </p:txBody>
      </p:sp>
      <p:sp>
        <p:nvSpPr>
          <p:cNvPr id="4" name="Rounded Rectangle 3"/>
          <p:cNvSpPr/>
          <p:nvPr/>
        </p:nvSpPr>
        <p:spPr>
          <a:xfrm>
            <a:off x="1371600" y="1645920"/>
            <a:ext cx="9445752" cy="310896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800" b="1">
                <a:solidFill>
                  <a:srgbClr val="818CF8"/>
                </a:solidFill>
              </a:defRPr>
            </a:pPr>
            <a:r>
              <a:t>Summary of Project Contributions</a:t>
            </a:r>
          </a:p>
          <a:p>
            <a:pPr>
              <a:spcBef>
                <a:spcPts val="800"/>
              </a:spcBef>
              <a:defRPr sz="1400">
                <a:solidFill>
                  <a:srgbClr val="F8FAFC"/>
                </a:solidFill>
              </a:defRPr>
            </a:pPr>
            <a:r>
              <a:t>• Proved Decoupled Architecture: Demonstrates that AI resume screening does not require opaque, non-deterministic end-to-end LLM decision-making.</a:t>
            </a:r>
          </a:p>
          <a:p>
            <a:pPr>
              <a:spcBef>
                <a:spcPts val="800"/>
              </a:spcBef>
              <a:defRPr sz="1400">
                <a:solidFill>
                  <a:srgbClr val="F8FAFC"/>
                </a:solidFill>
              </a:defRPr>
            </a:pPr>
            <a:r>
              <a:t>• Mathematical Transparency: Decouples deterministic rule verification from dense vectors, guaranteeing 100% score reproducibility and zero hallucinations.</a:t>
            </a:r>
          </a:p>
          <a:p>
            <a:pPr>
              <a:spcBef>
                <a:spcPts val="800"/>
              </a:spcBef>
              <a:defRPr sz="1400">
                <a:solidFill>
                  <a:srgbClr val="F8FAFC"/>
                </a:solidFill>
              </a:defRPr>
            </a:pPr>
            <a:r>
              <a:t>• Verbatim Evidence Citations: Skill gaps are grounded in actual resume text, enabling fair recruiter audits.</a:t>
            </a:r>
          </a:p>
          <a:p>
            <a:pPr>
              <a:spcBef>
                <a:spcPts val="800"/>
              </a:spcBef>
              <a:defRPr sz="1400">
                <a:solidFill>
                  <a:srgbClr val="F8FAFC"/>
                </a:solidFill>
              </a:defRPr>
            </a:pPr>
            <a:r>
              <a:t>• Fully Validated: 189 passing regression tests, 6/6 verified invariants, and 72.65 ms median pipeline latency.</a:t>
            </a:r>
          </a:p>
        </p:txBody>
      </p:sp>
      <p:sp>
        <p:nvSpPr>
          <p:cNvPr id="5" name="TextBox 4"/>
          <p:cNvSpPr txBox="1"/>
          <p:nvPr/>
        </p:nvSpPr>
        <p:spPr>
          <a:xfrm>
            <a:off x="1371600" y="4937760"/>
            <a:ext cx="9445752" cy="1463040"/>
          </a:xfrm>
          <a:prstGeom prst="rect">
            <a:avLst/>
          </a:prstGeom>
          <a:noFill/>
        </p:spPr>
        <p:txBody>
          <a:bodyPr wrap="square">
            <a:spAutoFit/>
          </a:bodyPr>
          <a:lstStyle/>
          <a:p>
            <a:pPr algn="ctr">
              <a:defRPr sz="3600" b="1">
                <a:solidFill>
                  <a:srgbClr val="10B981"/>
                </a:solidFill>
              </a:defRPr>
            </a:pPr>
            <a:r>
              <a:t>THANK YOU!</a:t>
            </a:r>
          </a:p>
          <a:p>
            <a:pPr algn="ctr">
              <a:spcBef>
                <a:spcPts val="400"/>
              </a:spcBef>
              <a:defRPr sz="1600">
                <a:solidFill>
                  <a:srgbClr val="94A3B8"/>
                </a:solidFill>
              </a:defRPr>
            </a:pPr>
            <a:r>
              <a:t>Questions &amp; Technical Discussion  |  Transitioning to Live Recruiter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